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Lst>
  <p:sldSz cx="12192000" cy="6858000"/>
  <p:notesSz cx="6858000" cy="9144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tIns="0" rIns="0" bIns="0" anchor="ctr">
            <a:noAutofit/>
          </a:bodyPr>
          <a:p>
            <a:pPr algn="ctr"/>
            <a:r>
              <a:rPr lang="it-IT" sz="4400" b="0" u="none" strike="noStrike">
                <a:solidFill>
                  <a:schemeClr val="dk1"/>
                </a:solidFill>
                <a:effectLst/>
                <a:uFillTx/>
                <a:latin typeface="Calibri Light"/>
              </a:rPr>
              <a:t>Fai clic per spostare la diapositiva</a:t>
            </a:r>
            <a:endParaRPr lang="it-IT" sz="4400" b="0" u="none" strike="noStrike">
              <a:solidFill>
                <a:schemeClr val="dk1"/>
              </a:solidFill>
              <a:effectLst/>
              <a:uFillTx/>
              <a:latin typeface="Calibri Light"/>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p>
            <a:pPr indent="0" algn="l">
              <a:buNone/>
            </a:pPr>
            <a:r>
              <a:rPr lang="it-IT" sz="2000" b="0" u="none" strike="noStrike">
                <a:solidFill>
                  <a:srgbClr val="000000"/>
                </a:solidFill>
                <a:effectLst/>
                <a:uFillTx/>
                <a:latin typeface="Arial"/>
              </a:rPr>
              <a:t>Fai clic per modificare il formato delle note</a:t>
            </a:r>
            <a:endParaRPr lang="it-IT" sz="2000" b="0" u="none" strike="noStrik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tIns="0" rIns="0" bIns="0" anchor="t">
            <a:noAutofit/>
          </a:bodyPr>
          <a:p>
            <a:pPr indent="0" algn="l">
              <a:buNone/>
            </a:pPr>
            <a:r>
              <a:rPr lang="it-IT" sz="1400" b="0" u="none" strike="noStrike">
                <a:solidFill>
                  <a:srgbClr val="000000"/>
                </a:solidFill>
                <a:effectLst/>
                <a:uFillTx/>
                <a:latin typeface="Times New Roman"/>
              </a:rPr>
              <a:t> </a:t>
            </a:r>
            <a:endParaRPr lang="it-IT"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it-IT" sz="1400" b="0" u="none" strike="noStrike">
                <a:solidFill>
                  <a:srgbClr val="000000"/>
                </a:solidFill>
                <a:effectLst/>
                <a:uFillTx/>
                <a:latin typeface="Times New Roman"/>
              </a:defRPr>
            </a:lvl1pPr>
          </a:lstStyle>
          <a:p>
            <a:pPr indent="0" algn="r">
              <a:buNone/>
            </a:pPr>
            <a:r>
              <a:rPr lang="it-IT" sz="1400" b="0" u="none" strike="noStrike">
                <a:solidFill>
                  <a:srgbClr val="000000"/>
                </a:solidFill>
                <a:effectLst/>
                <a:uFillTx/>
                <a:latin typeface="Times New Roman"/>
              </a:rPr>
              <a:t> </a:t>
            </a:r>
            <a:endParaRPr lang="it-IT"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lgn="l">
              <a:buNone/>
              <a:defRPr lang="it-IT" sz="1400" b="0" u="none" strike="noStrike">
                <a:solidFill>
                  <a:srgbClr val="000000"/>
                </a:solidFill>
                <a:effectLst/>
                <a:uFillTx/>
                <a:latin typeface="Times New Roman"/>
              </a:defRPr>
            </a:lvl1pPr>
          </a:lstStyle>
          <a:p>
            <a:pPr indent="0" algn="l">
              <a:buNone/>
            </a:pPr>
            <a:r>
              <a:rPr lang="it-IT" sz="1400" b="0" u="none" strike="noStrike">
                <a:solidFill>
                  <a:srgbClr val="000000"/>
                </a:solidFill>
                <a:effectLst/>
                <a:uFillTx/>
                <a:latin typeface="Times New Roman"/>
              </a:rPr>
              <a:t> </a:t>
            </a:r>
            <a:endParaRPr lang="it-IT"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it-IT" sz="1400" b="0" u="none" strike="noStrike">
                <a:solidFill>
                  <a:srgbClr val="000000"/>
                </a:solidFill>
                <a:effectLst/>
                <a:uFillTx/>
                <a:latin typeface="Times New Roman"/>
              </a:defRPr>
            </a:lvl1pPr>
          </a:lstStyle>
          <a:p>
            <a:pPr indent="0" algn="r">
              <a:buNone/>
            </a:pPr>
            <a:fld id="{0D5890F3-D33A-4BF9-9D26-C84BE1B5174A}" type="slidenum">
              <a:rPr lang="it-IT" sz="1400" b="0" u="none" strike="noStrike">
                <a:solidFill>
                  <a:srgbClr val="000000"/>
                </a:solidFill>
                <a:effectLst/>
                <a:uFillTx/>
                <a:latin typeface="Times New Roman"/>
              </a:rPr>
              <a:t>1</a:t>
            </a:fld>
            <a:endParaRPr lang="it-IT"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5" name="PlaceHolder 1"/>
          <p:cNvSpPr>
            <a:spLocks noGrp="1"/>
          </p:cNvSpPr>
          <p:nvPr>
            <p:ph type="sldImg"/>
          </p:nvPr>
        </p:nvSpPr>
        <p:spPr>
          <a:xfrm>
            <a:off x="0" y="0"/>
            <a:ext cx="0" cy="0"/>
          </a:xfrm>
          <a:prstGeom prst="rect">
            <a:avLst/>
          </a:prstGeom>
          <a:ln w="0">
            <a:noFill/>
          </a:ln>
        </p:spPr>
      </p:sp>
      <p:sp>
        <p:nvSpPr>
          <p:cNvPr id="19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ERA Screening is an independent research project. Apache 2.0, Python 3.10 to 3.12, package version v1.0.0rc2, a research release candidate. Nine slides: the problem and intended use (2), what the library compares and what you can change (3), the controlled first study (4), the two-model worked comparison (5), how it sits in the wider panel (6), research directions (7), what has been tested so far (8), the repository and how to get involved (9). Source revision cited throughout: f6d2d8174c93606c1bc558a9e30d4eb790cca515. The cover mark is an identity illustration, not measurement evidence. It was generated with OpenAI image generation on 7 September 2026 for this project.</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https://github.com/blacklotus1985/era-screening/blob/f6d2d8174c93606c1bc558a9e30d4eb790cca515/README.md [/Sources]</a:t>
            </a:r>
            <a:endParaRPr lang="it-IT" sz="2000" b="0" u="none" strike="noStrike">
              <a:solidFill>
                <a:srgbClr val="000000"/>
              </a:solidFill>
              <a:effectLst/>
              <a:uFillTx/>
              <a:latin typeface="Arial"/>
            </a:endParaRPr>
          </a:p>
        </p:txBody>
      </p:sp>
      <p:sp>
        <p:nvSpPr>
          <p:cNvPr id="197" name="PlaceHolder 3"/>
          <p:cNvSpPr>
            <a:spLocks noGrp="1"/>
          </p:cNvSpPr>
          <p:nvPr>
            <p:ph type="sldNum" idx="4"/>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8" name="PlaceHolder 1"/>
          <p:cNvSpPr>
            <a:spLocks noGrp="1"/>
          </p:cNvSpPr>
          <p:nvPr>
            <p:ph type="sldImg"/>
          </p:nvPr>
        </p:nvSpPr>
        <p:spPr>
          <a:xfrm>
            <a:off x="0" y="0"/>
            <a:ext cx="0" cy="0"/>
          </a:xfrm>
          <a:prstGeom prst="rect">
            <a:avLst/>
          </a:prstGeom>
          <a:ln w="0">
            <a:noFill/>
          </a:ln>
        </p:spPr>
      </p:sp>
      <p:sp>
        <p:nvSpPr>
          <p:cNvPr id="19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lnSpc>
                <a:spcPct val="100000"/>
              </a:lnSpc>
              <a:buNone/>
            </a:pPr>
            <a:r>
              <a:rPr lang="it-IT" sz="2000" b="0" u="none" strike="noStrike">
                <a:solidFill>
                  <a:srgbClr val="000000"/>
                </a:solidFill>
                <a:effectLst/>
                <a:uFillTx/>
                <a:latin typeface="Arial"/>
              </a:rPr>
              <a:t>The comparison is Pythia-70M versus OPT-350M across three seeds. Similar is descriptive, not a statistical equivalence claim. The gender association is measured on the fixed evaluation prompts and 14-word conditional target set. The experiment illustrates a question for an extensible library; it is not the whole scope of ERA.</a:t>
            </a:r>
            <a:endParaRPr lang="it-IT" sz="2000" b="0" u="none" strike="noStrike">
              <a:solidFill>
                <a:srgbClr val="000000"/>
              </a:solidFill>
              <a:effectLst/>
              <a:uFillTx/>
              <a:latin typeface="Arial"/>
            </a:endParaRPr>
          </a:p>
          <a:p>
            <a:pPr indent="0" algn="l">
              <a:lnSpc>
                <a:spcPct val="100000"/>
              </a:lnSpc>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a:t>
            </a: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https://github.com/blacklotus1985/era-screening/blob/f6d2d8174c93606c1bc558a9e30d4eb790cca515/results/reference_metrics/v2_balanced_r2/public_summary.json</a:t>
            </a: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https://github.com/blacklotus1985/era-screening/blob/f6d2d8174c93606c1bc558a9e30d4eb790cca515/docs/RESULTS.md</a:t>
            </a: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a:t>
            </a:r>
            <a:endParaRPr lang="it-IT" sz="2000" b="0" u="none" strike="noStrike">
              <a:solidFill>
                <a:srgbClr val="000000"/>
              </a:solidFill>
              <a:effectLst/>
              <a:uFillTx/>
              <a:latin typeface="Arial"/>
            </a:endParaRPr>
          </a:p>
        </p:txBody>
      </p:sp>
      <p:sp>
        <p:nvSpPr>
          <p:cNvPr id="200" name="PlaceHolder 3"/>
          <p:cNvSpPr>
            <a:spLocks noGrp="1"/>
          </p:cNvSpPr>
          <p:nvPr>
            <p:ph type="sldNum" idx="5"/>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1" name="PlaceHolder 1"/>
          <p:cNvSpPr>
            <a:spLocks noGrp="1"/>
          </p:cNvSpPr>
          <p:nvPr>
            <p:ph type="sldImg"/>
          </p:nvPr>
        </p:nvSpPr>
        <p:spPr>
          <a:xfrm>
            <a:off x="0" y="0"/>
            <a:ext cx="0" cy="0"/>
          </a:xfrm>
          <a:prstGeom prst="rect">
            <a:avLst/>
          </a:prstGeom>
          <a:ln w="0">
            <a:noFill/>
          </a:ln>
        </p:spPr>
      </p:sp>
      <p:sp>
        <p:nvSpPr>
          <p:cNvPr id="20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Extensibility, precisely. The screening function accepts supplied contexts and an optional fixed single-token probe vocabulary. The model interface, the measurements and the reports are separate code modules. What does not work automatically: arbitrary token groups, multi-token concepts, any model architecture, or a universal bias index. Current fixed concept words must satisfy the tokenizer checks. New group structures and behavioural questions may need new measures and their own validation. The general pipeline also reports per-concept change, relationships among concepts and internal geometry. The four views on this slide are the ones this study used. The general screening pipeline compares output distributions over the union of selected top-k tokens and also reports per-concept change, relationships among concepts, linear CKA and an anisotropy check. The full-vocabulary B, the B_T decomposition, Delta SI and the G measurements belong to the fixed reference configuration, not to every ERA run. Reports record identifiers, inputs, settings and hashes. They do not package model weights, and a report alone is not enough to rerun inference without access to the weights and the environment.</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https://github.com/blacklotus1985/era-screening/blob/f6d2d8174c93606c1bc558a9e30d4eb790cca515/README.md https://github.com/blacklotus1985/era-screening/blob/f6d2d8174c93606c1bc558a9e30d4eb790cca515/docs/REFERENCE_METRICS.md https://github.com/blacklotus1985/era-screening/blob/f6d2d8174c93606c1bc558a9e30d4eb790cca515/CONTRIBUTING.md [/Sources]</a:t>
            </a:r>
            <a:endParaRPr lang="it-IT" sz="2000" b="0" u="none" strike="noStrike">
              <a:solidFill>
                <a:srgbClr val="000000"/>
              </a:solidFill>
              <a:effectLst/>
              <a:uFillTx/>
              <a:latin typeface="Arial"/>
            </a:endParaRPr>
          </a:p>
        </p:txBody>
      </p:sp>
      <p:sp>
        <p:nvSpPr>
          <p:cNvPr id="203" name="PlaceHolder 3"/>
          <p:cNvSpPr>
            <a:spLocks noGrp="1"/>
          </p:cNvSpPr>
          <p:nvPr>
            <p:ph type="sldNum" idx="6"/>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PlaceHolder 1"/>
          <p:cNvSpPr>
            <a:spLocks noGrp="1"/>
          </p:cNvSpPr>
          <p:nvPr>
            <p:ph type="sldImg"/>
          </p:nvPr>
        </p:nvSpPr>
        <p:spPr>
          <a:xfrm>
            <a:off x="0" y="0"/>
            <a:ext cx="0" cy="0"/>
          </a:xfrm>
          <a:prstGeom prst="rect">
            <a:avLst/>
          </a:prstGeom>
          <a:ln w="0">
            <a:noFill/>
          </a:ln>
        </p:spPr>
      </p:sp>
      <p:sp>
        <p:nvSpPr>
          <p:cNvPr id="20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Design in full. The corpus has 300 sentences associating leadership occupations with male terms and support occupations with female terms. For each seed it is shuffled and split into 290 training and 10 validation sentences; the validation sentences check next-token prediction after each epoch and are not used for the ERA measurements. Training updates all parameters for three epochs, batch 4, learning rate 5e-5, maximum sequence length 128. Seeds 42, 43 and 44. Evaluation uses 40 prompts, 20 leadership and 20 support, and a fixed set of 14 target words, 7 male and 7 female. Definitions. For each prompt, take the male probability share minus the female probability share, conditional on the 14 target words. SI is the mean gap on leadership prompts minus the mean gap on support prompts. Delta SI is SI after fine-tuning minus SI before. A positive Delta SI means the combined stereotyped contrast strengthened on these prompts; it does not require both prompt families to move separately in the expected direction. A negative Delta SI does not mean all gender bias disappeared or that the model became generally safer. Scope of the evaluation set: the 40 prompts do not occur verbatim in the fine-tuning corpus, but they share occupation words such as CEO, manager and nurse and stay in the same role-and-gender domain. Their absence from the models' original pretraining data has not been established. Do not claim demonstrated transfer to unrelated domains.</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https://github.com/blacklotus1985/era-screening/blob/f6d2d8174c93606c1bc558a9e30d4eb790cca515/docs/RESULTS.md https://github.com/blacklotus1985/era-screening/blob/f6d2d8174c93606c1bc558a9e30d4eb790cca515/data/README.md https://github.com/blacklotus1985/era-screening/blob/f6d2d8174c93606c1bc558a9e30d4eb790cca515/docs/REFERENCE_METRICS.md [/Sources]</a:t>
            </a:r>
            <a:endParaRPr lang="it-IT" sz="2000" b="0" u="none" strike="noStrike">
              <a:solidFill>
                <a:srgbClr val="000000"/>
              </a:solidFill>
              <a:effectLst/>
              <a:uFillTx/>
              <a:latin typeface="Arial"/>
            </a:endParaRPr>
          </a:p>
        </p:txBody>
      </p:sp>
      <p:sp>
        <p:nvSpPr>
          <p:cNvPr id="206" name="PlaceHolder 3"/>
          <p:cNvSpPr>
            <a:spLocks noGrp="1"/>
          </p:cNvSpPr>
          <p:nvPr>
            <p:ph type="sldNum" idx="7"/>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7" name="PlaceHolder 1"/>
          <p:cNvSpPr>
            <a:spLocks noGrp="1"/>
          </p:cNvSpPr>
          <p:nvPr>
            <p:ph type="sldImg"/>
          </p:nvPr>
        </p:nvSpPr>
        <p:spPr>
          <a:xfrm>
            <a:off x="0" y="0"/>
            <a:ext cx="0" cy="0"/>
          </a:xfrm>
          <a:prstGeom prst="rect">
            <a:avLst/>
          </a:prstGeom>
          <a:ln w="0">
            <a:noFill/>
          </a:ln>
        </p:spPr>
      </p:sp>
      <p:sp>
        <p:nvSpPr>
          <p:cNvPr id="20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Exact values. Pythia-70M: B = 0.5822672867779802, sample SD 0.004386929079948761; mean Delta SI = -0.20687641484032912, sample SD 0.042354428361323686; between share 17.155%. OPT-350M: B = 0.5610858851030133, sample SD 0.019552720258314248; mean Delta SI = 1.1463081650102733, sample SD 0.022765224286368756; between share 52.888%. The third chart shows shares of B_T, the change measured inside the renormalised 14-word target set. They are not shares of the full-vocabulary B, not percentages of bias, and not percentages of all change inside the model. The between and within parts sum exactly to B_T. Note that OPT-350M has substantial change in both components; neither model changed in only one of them. SI stayed positive after training in both models, so the weakening in Pythia-70M is a reduction in the contrast, not a reversal of it. Delta SI is the change from each model's own starting point. B differs by 0.021 nats on a scale whose maximum is ln(2) = 0.693. This is a descriptive comparison, not a statistical equivalence result, and no significance claim is made. Error bars are one sample standard deviation across the three seeds. A further contrast in the same panel, if asked: GPT-Neo-125M and OPT-125M have B values of 0.419 and 0.447 while OPT's measured internal change is 8 to 9 times larger on the same fixed cosine probe. That ratio belongs to this probe and these two architectures and is not a general property.</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https://github.com/blacklotus1985/era-screening/blob/f6d2d8174c93606c1bc558a9e30d4eb790cca515/docs/RESULTS.md https://github.com/blacklotus1985/era-screening/blob/f6d2d8174c93606c1bc558a9e30d4eb790cca515/results/reference_metrics/v2_balanced_r2/public_summary.json [/Sources]</a:t>
            </a:r>
            <a:endParaRPr lang="it-IT" sz="2000" b="0" u="none" strike="noStrike">
              <a:solidFill>
                <a:srgbClr val="000000"/>
              </a:solidFill>
              <a:effectLst/>
              <a:uFillTx/>
              <a:latin typeface="Arial"/>
            </a:endParaRPr>
          </a:p>
          <a:p>
            <a:pPr indent="0" algn="l">
              <a:lnSpc>
                <a:spcPct val="100000"/>
              </a:lnSpc>
              <a:buNone/>
            </a:pPr>
            <a:endParaRPr lang="it-IT" sz="2000" b="0" u="none" strike="noStrike">
              <a:solidFill>
                <a:srgbClr val="000000"/>
              </a:solidFill>
              <a:effectLst/>
              <a:uFillTx/>
              <a:latin typeface="Arial"/>
            </a:endParaRPr>
          </a:p>
          <a:p>
            <a:pPr indent="0" algn="l">
              <a:lnSpc>
                <a:spcPct val="100000"/>
              </a:lnSpc>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Delta SI is SI after minus SI before, in index points, not a percentage change in bias. Negative means a weaker measured contrast relative to the same model base, not absence of bias. Both models still have positive SI after training. Third-chart shares are ratios of mean components, not means of run-level percentages.</a:t>
            </a:r>
            <a:endParaRPr lang="it-IT" sz="2000" b="0" u="none" strike="noStrike">
              <a:solidFill>
                <a:srgbClr val="000000"/>
              </a:solidFill>
              <a:effectLst/>
              <a:uFillTx/>
              <a:latin typeface="Arial"/>
            </a:endParaRPr>
          </a:p>
        </p:txBody>
      </p:sp>
      <p:sp>
        <p:nvSpPr>
          <p:cNvPr id="209" name="PlaceHolder 3"/>
          <p:cNvSpPr>
            <a:spLocks noGrp="1"/>
          </p:cNvSpPr>
          <p:nvPr>
            <p:ph type="sldNum" idx="8"/>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0" name="PlaceHolder 1"/>
          <p:cNvSpPr>
            <a:spLocks noGrp="1"/>
          </p:cNvSpPr>
          <p:nvPr>
            <p:ph type="sldImg"/>
          </p:nvPr>
        </p:nvSpPr>
        <p:spPr>
          <a:xfrm>
            <a:off x="0" y="0"/>
            <a:ext cx="0" cy="0"/>
          </a:xfrm>
          <a:prstGeom prst="rect">
            <a:avLst/>
          </a:prstGeom>
          <a:ln w="0">
            <a:noFill/>
          </a:ln>
        </p:spPr>
      </p:sp>
      <p:sp>
        <p:nvSpPr>
          <p:cNvPr id="21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Headline figures: Delta SI is positive in 29 of 33 runs (87.9%); 10 of 11 model means are positive; 9 models are positive in every seed; Pythia-410M is positive in 2 of 3 seeds; Pythia-70M is negative in all 3. Mean full-vocabulary B ranges from 0.339 to 0.582 nats across models. Run variation matters here. Pythia-410M has a mean Delta SI of about 0.254 with a sample SD of about 0.486 and one negative run, so its mean should not be read as a stable positive effect. OPT-125M (SD 0.298) and BLOOM-560M (SD 0.229) also vary widely. Exploratory observation, kept off the slide on purpose: within all four families represented at more than one size, the larger checkpoint has the higher three-seed mean and a larger between share. Most families contain only two sizes, and the small Pythia-160M to Pythia-410M increase reverses across seeds. It is a prediction for future tests, not a scaling law. The panel is descriptive and was added after the original preregistered study; it was not itself preregistered. Target-word concentration: the stated ranges average the 40 prompts and then the three seeds for each model, so individual prompts can fall outside them. The concentration is an observation; it does not by itself show that the models are unusable.</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https://github.com/blacklotus1985/era-screening/blob/f6d2d8174c93606c1bc558a9e30d4eb790cca515/docs/RESULTS.md https://github.com/blacklotus1985/era-screening/blob/f6d2d8174c93606c1bc558a9e30d4eb790cca515/results/reference_metrics/v2_balanced_r2/public_summary.json [/Sources]</a:t>
            </a:r>
            <a:endParaRPr lang="it-IT" sz="2000" b="0" u="none" strike="noStrike">
              <a:solidFill>
                <a:srgbClr val="000000"/>
              </a:solidFill>
              <a:effectLst/>
              <a:uFillTx/>
              <a:latin typeface="Arial"/>
            </a:endParaRPr>
          </a:p>
        </p:txBody>
      </p:sp>
      <p:sp>
        <p:nvSpPr>
          <p:cNvPr id="212" name="PlaceHolder 3"/>
          <p:cNvSpPr>
            <a:spLocks noGrp="1"/>
          </p:cNvSpPr>
          <p:nvPr>
            <p:ph type="sldNum" idx="9"/>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 name="PlaceHolder 1"/>
          <p:cNvSpPr>
            <a:spLocks noGrp="1"/>
          </p:cNvSpPr>
          <p:nvPr>
            <p:ph type="sldImg"/>
          </p:nvPr>
        </p:nvSpPr>
        <p:spPr>
          <a:xfrm>
            <a:off x="0" y="0"/>
            <a:ext cx="0" cy="0"/>
          </a:xfrm>
          <a:prstGeom prst="rect">
            <a:avLst/>
          </a:prstGeom>
          <a:ln w="0">
            <a:noFill/>
          </a:ln>
        </p:spPr>
      </p:sp>
      <p:sp>
        <p:nvSpPr>
          <p:cNvPr id="21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Research directions, in future tense. The single comparison named in the closing line exists today. The chain, the evaluation profiles and the data clues do not. Lineage: tracking a known sequence of model versions can locate where a measured change first appears. It does not independently establish ancestry, reveal an unknown training history, or uniquely identify the data that caused a change. A published graph would also need to separate lineage a publisher declares from relationships checked against reproducible evidence. Merges and distillations are deliberately left out of the diagram. The current comparison assumes a structurally compatible pair, and a merge or a distillation can change architecture or tokenizer, so it would need new comparison methods. Descendants of descendants and incomplete publisher metadata also remain untested. Evaluation profiles need behavioural validation and justified criteria. Stated thresholds alone do not make an audit decision valid. The README prints an illustrative report with outcomes such as PASS, WARNING, FAIL and REVIEW REQUIRED; that is a shape, not a result. Indirect training-data clues are an aim, not reconstruction of exact training examples. Deeper-layer change is not evidence of deeper understanding, and activation differences alone do not identify causal mechanisms.</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https://github.com/blacklotus1985/era-screening/blob/f6d2d8174c93606c1bc558a9e30d4eb790cca515/README.md https://github.com/blacklotus1985/era-screening/blob/f6d2d8174c93606c1bc558a9e30d4eb790cca515/docs/ROADMAP.md [/Sources]</a:t>
            </a:r>
            <a:endParaRPr lang="it-IT" sz="2000" b="0" u="none" strike="noStrike">
              <a:solidFill>
                <a:srgbClr val="000000"/>
              </a:solidFill>
              <a:effectLst/>
              <a:uFillTx/>
              <a:latin typeface="Arial"/>
            </a:endParaRPr>
          </a:p>
          <a:p>
            <a:pPr indent="0" algn="l">
              <a:lnSpc>
                <a:spcPct val="100000"/>
              </a:lnSpc>
              <a:buNone/>
            </a:pPr>
            <a:endParaRPr lang="it-IT" sz="2000" b="0" u="none" strike="noStrike">
              <a:solidFill>
                <a:srgbClr val="000000"/>
              </a:solidFill>
              <a:effectLst/>
              <a:uFillTx/>
              <a:latin typeface="Arial"/>
            </a:endParaRPr>
          </a:p>
          <a:p>
            <a:pPr indent="0" algn="l">
              <a:lnSpc>
                <a:spcPct val="100000"/>
              </a:lnSpc>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The tree is a proposed research direction and shows known parent-child derivations. Each edge could be a comparison between compatible versions. ERA does not infer unknown ancestry or reconstruct training data.</a:t>
            </a:r>
            <a:endParaRPr lang="it-IT" sz="2000" b="0" u="none" strike="noStrike">
              <a:solidFill>
                <a:srgbClr val="000000"/>
              </a:solidFill>
              <a:effectLst/>
              <a:uFillTx/>
              <a:latin typeface="Arial"/>
            </a:endParaRPr>
          </a:p>
        </p:txBody>
      </p:sp>
      <p:sp>
        <p:nvSpPr>
          <p:cNvPr id="215" name="PlaceHolder 3"/>
          <p:cNvSpPr>
            <a:spLocks noGrp="1"/>
          </p:cNvSpPr>
          <p:nvPr>
            <p:ph type="sldNum" idx="10"/>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6" name="PlaceHolder 1"/>
          <p:cNvSpPr>
            <a:spLocks noGrp="1"/>
          </p:cNvSpPr>
          <p:nvPr>
            <p:ph type="sldImg"/>
          </p:nvPr>
        </p:nvSpPr>
        <p:spPr>
          <a:xfrm>
            <a:off x="0" y="0"/>
            <a:ext cx="0" cy="0"/>
          </a:xfrm>
          <a:prstGeom prst="rect">
            <a:avLst/>
          </a:prstGeom>
          <a:ln w="0">
            <a:noFill/>
          </a:ln>
        </p:spPr>
      </p:sp>
      <p:sp>
        <p:nvSpPr>
          <p:cNvPr id="21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Wording chosen carefully. Tested so far, rather than validated, because the question is measurement validity and not only software functionality. Access is about API-only availability, not licensing. Comparability is a limit on interpretation across architectures, not a prohibition on controlled comparisons. Calibration control A: GPT-Neo-125M and Pythia-160M were saved and reloaded without training and both recorded max_abs_logit_delta 0.0, with representation comparisons neutral up to floating-point noise, a maximum CKA change of about 2.2e-16. This tests that invariant only; it does not validate the scientific interpretation. Two other controls exist with their own limits. Control B, the neutral corpus, intended an analogous neutral contrast but it increased in only 1 of 6 runs and its words split into two tokens. Control C trained only the final block and is a scale endpoint rather than a depth anchor. HISTORY.md records the withdrawal of an explanation of the Pythia depth trend after direct CKA measurements failed to support it, and the correction of an earlier faulty saturation argument. That trend is still unexplained. Also worth stating if asked: perplexity on unrelated text was not measured, and the reference panel was added after the original preregistration rather than being preregistered itself.</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https://github.com/blacklotus1985/era-screening/blob/f6d2d8174c93606c1bc558a9e30d4eb790cca515/README.md https://github.com/blacklotus1985/era-screening/blob/f6d2d8174c93606c1bc558a9e30d4eb790cca515/docs/HISTORY.md https://github.com/blacklotus1985/era-screening/blob/f6d2d8174c93606c1bc558a9e30d4eb790cca515/docs/RESULTS.md [/Sources]</a:t>
            </a:r>
            <a:endParaRPr lang="it-IT" sz="2000" b="0" u="none" strike="noStrike">
              <a:solidFill>
                <a:srgbClr val="000000"/>
              </a:solidFill>
              <a:effectLst/>
              <a:uFillTx/>
              <a:latin typeface="Arial"/>
            </a:endParaRPr>
          </a:p>
        </p:txBody>
      </p:sp>
      <p:sp>
        <p:nvSpPr>
          <p:cNvPr id="218" name="PlaceHolder 3"/>
          <p:cNvSpPr>
            <a:spLocks noGrp="1"/>
          </p:cNvSpPr>
          <p:nvPr>
            <p:ph type="sldNum" idx="11"/>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sldImg"/>
          </p:nvPr>
        </p:nvSpPr>
        <p:spPr>
          <a:xfrm>
            <a:off x="0" y="0"/>
            <a:ext cx="0" cy="0"/>
          </a:xfrm>
          <a:prstGeom prst="rect">
            <a:avLst/>
          </a:prstGeom>
          <a:ln w="0">
            <a:noFill/>
          </a:ln>
        </p:spPr>
      </p:sp>
      <p:sp>
        <p:nvSpPr>
          <p:cNvPr id="22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p>
            <a:pPr indent="0" algn="l">
              <a:buNone/>
            </a:pPr>
            <a:r>
              <a:rPr lang="it-IT" sz="2000" b="0" u="none" strike="noStrike">
                <a:solidFill>
                  <a:srgbClr val="000000"/>
                </a:solidFill>
                <a:effectLst/>
                <a:uFillTx/>
                <a:latin typeface="Arial"/>
              </a:rPr>
              <a:t>The invitation, kept concrete and unhurried. Apache 2.0, Python 3.10 to 3.12. To check the committed results without a GPU or model downloads: git clone https://github.com/blacklotus1985/era-screening.git, cd era-screening, then python experiments/23_build_public_summary.py --check, which prints PUBLIC SUMMARY CHECK PASS: 11 models, 33 cells. That command checks the committed summary against the 33 committed cells and needs no model weights. It does not reproduce the experiment. The three reproduction levels in the README are: verify the committed evidence without weights; run the mathematical and pipeline tests locally; retrain and remeasure the full panel on suitable hardware. Full commands, environment notes and the limits of byte-level GPU determinism are in docs/REPRODUCIBILITY.md, and the GPU procedure is in docs/RUNBOOK_GPU.md. CONTRIBUTING.md sets out the rules that apply when a change affects the meaning of a measurement. Contributor credit follows the repository README wording: Pietro Mercuri provided suggestions on experiments and evaluation metrics. Do not expand that role or imply endorsement of the interpretations in these slides.</a:t>
            </a:r>
            <a:endParaRPr lang="it-IT" sz="2000" b="0" u="none" strike="noStrike">
              <a:solidFill>
                <a:srgbClr val="000000"/>
              </a:solidFill>
              <a:effectLst/>
              <a:uFillTx/>
              <a:latin typeface="Arial"/>
            </a:endParaRPr>
          </a:p>
          <a:p>
            <a:pPr indent="0" algn="l">
              <a:buNone/>
            </a:pPr>
            <a:endParaRPr lang="it-IT" sz="2000" b="0" u="none" strike="noStrike">
              <a:solidFill>
                <a:srgbClr val="000000"/>
              </a:solidFill>
              <a:effectLst/>
              <a:uFillTx/>
              <a:latin typeface="Arial"/>
            </a:endParaRPr>
          </a:p>
          <a:p>
            <a:pPr indent="0" algn="l">
              <a:lnSpc>
                <a:spcPct val="100000"/>
              </a:lnSpc>
              <a:buNone/>
            </a:pPr>
            <a:r>
              <a:rPr lang="it-IT" sz="2000" b="0" u="none" strike="noStrike">
                <a:solidFill>
                  <a:srgbClr val="000000"/>
                </a:solidFill>
                <a:effectLst/>
                <a:uFillTx/>
                <a:latin typeface="Arial"/>
              </a:rPr>
              <a:t>[Sources] https://github.com/blacklotus1985/era-screening/blob/f6d2d8174c93606c1bc558a9e30d4eb790cca515/README.md https://github.com/blacklotus1985/era-screening/blob/f6d2d8174c93606c1bc558a9e30d4eb790cca515/docs/REPRODUCIBILITY.md https://github.com/blacklotus1985/era-screening/blob/f6d2d8174c93606c1bc558a9e30d4eb790cca515/CONTRIBUTING.md [/Sources]</a:t>
            </a:r>
            <a:endParaRPr lang="it-IT" sz="2000" b="0" u="none" strike="noStrike">
              <a:solidFill>
                <a:srgbClr val="000000"/>
              </a:solidFill>
              <a:effectLst/>
              <a:uFillTx/>
              <a:latin typeface="Arial"/>
            </a:endParaRPr>
          </a:p>
        </p:txBody>
      </p:sp>
      <p:sp>
        <p:nvSpPr>
          <p:cNvPr id="221" name="PlaceHolder 3"/>
          <p:cNvSpPr>
            <a:spLocks noGrp="1"/>
          </p:cNvSpPr>
          <p:nvPr>
            <p:ph type="sldNum" idx="12"/>
          </p:nvPr>
        </p:nvSpPr>
        <p:spPr>
          <a:xfrm>
            <a:off x="0" y="0"/>
            <a:ext cx="0" cy="0"/>
          </a:xfrm>
          <a:prstGeom prst="rect">
            <a:avLst/>
          </a:prstGeom>
          <a:noFill/>
          <a:ln w="0">
            <a:noFill/>
          </a:ln>
        </p:spPr>
        <p:txBody>
          <a:bodyPr lIns="90000" tIns="-45000" rIns="90000" bIns="-45000" anchor="t">
            <a:noAutofit/>
          </a:bodyPr>
          <a:p>
            <a:pPr indent="0" algn="l">
              <a:buNone/>
            </a:pPr>
            <a:endParaRPr lang="it-IT" sz="18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080" cy="1144800"/>
          </a:xfrm>
          <a:prstGeom prst="rect">
            <a:avLst/>
          </a:prstGeom>
          <a:noFill/>
          <a:ln w="0">
            <a:noFill/>
          </a:ln>
        </p:spPr>
        <p:txBody>
          <a:bodyPr lIns="0" tIns="0" rIns="0" bIns="0" anchor="ctr">
            <a:noAutofit/>
          </a:bodyPr>
          <a:lstStyle>
            <a:lvl1pPr indent="0" algn="ctr">
              <a:buNone/>
              <a:defRPr lang="it-IT" sz="4400" b="0" u="none" strike="noStrike">
                <a:solidFill>
                  <a:schemeClr val="dk1"/>
                </a:solidFill>
                <a:effectLst/>
                <a:uFillTx/>
                <a:latin typeface="Calibri Light"/>
              </a:defRPr>
            </a:lvl1pPr>
          </a:lstStyle>
          <a:p>
            <a:pPr indent="0" algn="ctr">
              <a:buNone/>
            </a:pPr>
            <a:r>
              <a:rPr lang="it-IT" sz="4400" b="0" u="none" strike="noStrike">
                <a:solidFill>
                  <a:schemeClr val="dk1"/>
                </a:solidFill>
                <a:effectLst/>
                <a:uFillTx/>
                <a:latin typeface="Calibri Light"/>
              </a:rPr>
              <a:t>Fai clic per modificare il formato del testo del titolo</a:t>
            </a:r>
            <a:endParaRPr lang="it-IT" sz="4400" b="0" u="none" strike="noStrike">
              <a:solidFill>
                <a:schemeClr val="dk1"/>
              </a:solidFill>
              <a:effectLst/>
              <a:uFillTx/>
              <a:latin typeface="Calibri Light"/>
            </a:endParaRPr>
          </a:p>
        </p:txBody>
      </p:sp>
      <p:sp>
        <p:nvSpPr>
          <p:cNvPr id="3" name="PlaceHolder 2"/>
          <p:cNvSpPr>
            <a:spLocks noGrp="1"/>
          </p:cNvSpPr>
          <p:nvPr>
            <p:ph type="body"/>
          </p:nvPr>
        </p:nvSpPr>
        <p:spPr>
          <a:xfrm>
            <a:off x="609480" y="1604520"/>
            <a:ext cx="1097208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it-IT"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it-IT"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it-IT"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it-IT"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it-IT"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it-IT"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it-IT"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it-IT" sz="3200" b="0" u="none" strike="noStrike">
                <a:solidFill>
                  <a:schemeClr val="dk1"/>
                </a:solidFill>
                <a:effectLst/>
                <a:uFillTx/>
                <a:latin typeface="Calibri"/>
              </a:rPr>
              <a:t>Fai clic per modificare il formato del testo della struttura</a:t>
            </a:r>
            <a:endParaRPr lang="it-IT"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it-IT" sz="2400" b="0" u="none" strike="noStrike">
                <a:solidFill>
                  <a:schemeClr val="dk1"/>
                </a:solidFill>
                <a:effectLst/>
                <a:uFillTx/>
                <a:latin typeface="Calibri"/>
              </a:rPr>
              <a:t>Secondo livello struttura</a:t>
            </a:r>
            <a:endParaRPr lang="it-IT"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it-IT" sz="2000" b="0" u="none" strike="noStrike">
                <a:solidFill>
                  <a:schemeClr val="dk1"/>
                </a:solidFill>
                <a:effectLst/>
                <a:uFillTx/>
                <a:latin typeface="Calibri"/>
              </a:rPr>
              <a:t>Terzo livello struttura</a:t>
            </a:r>
            <a:endParaRPr lang="it-IT"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it-IT" sz="2000" b="0" u="none" strike="noStrike">
                <a:solidFill>
                  <a:schemeClr val="dk1"/>
                </a:solidFill>
                <a:effectLst/>
                <a:uFillTx/>
                <a:latin typeface="Calibri"/>
              </a:rPr>
              <a:t>Quarto livello struttura</a:t>
            </a:r>
            <a:endParaRPr lang="it-IT"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it-IT" sz="2000" b="0" u="none" strike="noStrike">
                <a:solidFill>
                  <a:schemeClr val="dk1"/>
                </a:solidFill>
                <a:effectLst/>
                <a:uFillTx/>
                <a:latin typeface="Calibri"/>
              </a:rPr>
              <a:t>Quinto livello struttura</a:t>
            </a:r>
            <a:endParaRPr lang="it-IT"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it-IT" sz="2000" b="0" u="none" strike="noStrike">
                <a:solidFill>
                  <a:schemeClr val="dk1"/>
                </a:solidFill>
                <a:effectLst/>
                <a:uFillTx/>
                <a:latin typeface="Calibri"/>
              </a:rPr>
              <a:t>Sesto livello struttura</a:t>
            </a:r>
            <a:endParaRPr lang="it-IT"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it-IT" sz="2000" b="0" u="none" strike="noStrike">
                <a:solidFill>
                  <a:schemeClr val="dk1"/>
                </a:solidFill>
                <a:effectLst/>
                <a:uFillTx/>
                <a:latin typeface="Calibri"/>
              </a:rPr>
              <a:t>Settimo livello struttura</a:t>
            </a:r>
            <a:endParaRPr lang="it-IT"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hyperlink" Target="https://github.com/blacklotus1985/era-screening" TargetMode="External"/><Relationship Id="rId3" Type="http://schemas.openxmlformats.org/officeDocument/2006/relationships/hyperlink" Target="https://github.com/blacklotus1985/era-screening" TargetMode="External"/><Relationship Id="rId4" Type="http://schemas.openxmlformats.org/officeDocument/2006/relationships/slideLayout" Target="../slideLayouts/slideLayout1.xml"/><Relationship Id="rId5"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slideLayout" Target="../slideLayouts/slideLayout1.xml"/><Relationship Id="rId4"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slideLayout" Target="../slideLayouts/slideLayout1.xml"/><Relationship Id="rId4"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slideLayout" Target="../slideLayouts/slideLayout1.xml"/><Relationship Id="rId4"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slideLayout" Target="../slideLayouts/slideLayout1.xml"/><Relationship Id="rId7"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image" Target="../media/image5.png"/><Relationship Id="rId4" Type="http://schemas.openxmlformats.org/officeDocument/2006/relationships/slideLayout" Target="../slideLayouts/slideLayout1.xml"/><Relationship Id="rId5"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slideLayout" Target="../slideLayouts/slideLayout1.xml"/><Relationship Id="rId4"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slideLayout" Target="../slideLayouts/slideLayout1.xml"/><Relationship Id="rId4"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hyperlink" Target="https://github.com/blacklotus1985/era-screening" TargetMode="External"/><Relationship Id="rId2" Type="http://schemas.openxmlformats.org/officeDocument/2006/relationships/hyperlink" Target="https://github.com/blacklotus1985/era-screening" TargetMode="External"/><Relationship Id="rId3" Type="http://schemas.openxmlformats.org/officeDocument/2006/relationships/slideLayout" Target="../slideLayouts/slideLayout1.xml"/><Relationship Id="rId4" Type="http://schemas.openxmlformats.org/officeDocument/2006/relationships/notesSlide" Target="../notesSlides/notesSlide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Shape 0"/>
          <p:cNvSpPr/>
          <p:nvPr/>
        </p:nvSpPr>
        <p:spPr>
          <a:xfrm>
            <a:off x="0" y="4590360"/>
            <a:ext cx="12191400" cy="2267280"/>
          </a:xfrm>
          <a:prstGeom prst="rect">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1" name="Text 1"/>
          <p:cNvSpPr/>
          <p:nvPr/>
        </p:nvSpPr>
        <p:spPr>
          <a:xfrm>
            <a:off x="567000" y="347400"/>
            <a:ext cx="54860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PROJECT OVERVIEW</a:t>
            </a:r>
            <a:endParaRPr lang="it-IT" sz="1050" b="0" u="none" strike="noStrike">
              <a:solidFill>
                <a:srgbClr val="000000"/>
              </a:solidFill>
              <a:effectLst/>
              <a:uFillTx/>
              <a:latin typeface="Arial"/>
            </a:endParaRPr>
          </a:p>
        </p:txBody>
      </p:sp>
      <p:sp>
        <p:nvSpPr>
          <p:cNvPr id="12" name="Text 2"/>
          <p:cNvSpPr/>
          <p:nvPr/>
        </p:nvSpPr>
        <p:spPr>
          <a:xfrm>
            <a:off x="7052760" y="347400"/>
            <a:ext cx="457164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050" b="1" u="none" spc="159" strike="noStrike">
                <a:solidFill>
                  <a:srgbClr val="377E80"/>
                </a:solidFill>
                <a:effectLst/>
                <a:uFillTx/>
                <a:latin typeface="Arial"/>
                <a:ea typeface="Arial"/>
              </a:rPr>
              <a:t>INDEPENDENT RESEARCH</a:t>
            </a:r>
            <a:endParaRPr lang="it-IT" sz="1050" b="0" u="none" strike="noStrike">
              <a:solidFill>
                <a:srgbClr val="000000"/>
              </a:solidFill>
              <a:effectLst/>
              <a:uFillTx/>
              <a:latin typeface="Arial"/>
            </a:endParaRPr>
          </a:p>
        </p:txBody>
      </p:sp>
      <p:sp>
        <p:nvSpPr>
          <p:cNvPr id="13" name="Text 3"/>
          <p:cNvSpPr/>
          <p:nvPr/>
        </p:nvSpPr>
        <p:spPr>
          <a:xfrm>
            <a:off x="567000" y="1783080"/>
            <a:ext cx="6949080" cy="2011320"/>
          </a:xfrm>
          <a:prstGeom prst="rect">
            <a:avLst/>
          </a:prstGeom>
          <a:noFill/>
          <a:ln w="0">
            <a:noFill/>
          </a:ln>
        </p:spPr>
        <p:style>
          <a:lnRef idx="0"/>
          <a:fillRef idx="0"/>
          <a:effectRef idx="0"/>
          <a:fontRef idx="minor"/>
        </p:style>
        <p:txBody>
          <a:bodyPr lIns="0" tIns="0" rIns="0" bIns="0" anchor="t">
            <a:noAutofit/>
          </a:bodyPr>
          <a:p>
            <a:pPr>
              <a:lnSpc>
                <a:spcPts val="5800"/>
              </a:lnSpc>
              <a:tabLst>
                <a:tab pos="0" algn="l"/>
              </a:tabLst>
            </a:pPr>
            <a:r>
              <a:rPr lang="it-IT" sz="5000" b="1" u="none" strike="noStrike">
                <a:solidFill>
                  <a:srgbClr val="142B3A"/>
                </a:solidFill>
                <a:effectLst/>
                <a:uFillTx/>
                <a:latin typeface="Arial"/>
                <a:ea typeface="Arial"/>
              </a:rPr>
              <a:t>Auditing how</a:t>
            </a:r>
            <a:endParaRPr lang="it-IT" sz="5000" b="0" u="none" strike="noStrike">
              <a:solidFill>
                <a:srgbClr val="000000"/>
              </a:solidFill>
              <a:effectLst/>
              <a:uFillTx/>
              <a:latin typeface="Arial"/>
            </a:endParaRPr>
          </a:p>
          <a:p>
            <a:pPr>
              <a:lnSpc>
                <a:spcPts val="5800"/>
              </a:lnSpc>
              <a:tabLst>
                <a:tab pos="0" algn="l"/>
              </a:tabLst>
            </a:pPr>
            <a:r>
              <a:rPr lang="it-IT" sz="5000" b="1" u="none" strike="noStrike">
                <a:solidFill>
                  <a:srgbClr val="142B3A"/>
                </a:solidFill>
                <a:effectLst/>
                <a:uFillTx/>
                <a:latin typeface="Arial"/>
                <a:ea typeface="Arial"/>
              </a:rPr>
              <a:t>AI models change</a:t>
            </a:r>
            <a:endParaRPr lang="it-IT" sz="5000" b="0" u="none" strike="noStrike">
              <a:solidFill>
                <a:srgbClr val="000000"/>
              </a:solidFill>
              <a:effectLst/>
              <a:uFillTx/>
              <a:latin typeface="Arial"/>
            </a:endParaRPr>
          </a:p>
        </p:txBody>
      </p:sp>
      <p:pic>
        <p:nvPicPr>
          <p:cNvPr id="14" name="Image 0"/>
          <p:cNvPicPr/>
          <p:nvPr/>
        </p:nvPicPr>
        <p:blipFill>
          <a:blip r:embed="rId1"/>
          <a:stretch/>
        </p:blipFill>
        <p:spPr>
          <a:xfrm>
            <a:off x="8092440" y="2212920"/>
            <a:ext cx="3565800" cy="1339200"/>
          </a:xfrm>
          <a:prstGeom prst="rect">
            <a:avLst/>
          </a:prstGeom>
          <a:noFill/>
          <a:ln w="0">
            <a:noFill/>
          </a:ln>
        </p:spPr>
      </p:pic>
      <p:sp>
        <p:nvSpPr>
          <p:cNvPr id="15" name="Text 4"/>
          <p:cNvSpPr/>
          <p:nvPr/>
        </p:nvSpPr>
        <p:spPr>
          <a:xfrm>
            <a:off x="567000" y="4974480"/>
            <a:ext cx="8777880" cy="822600"/>
          </a:xfrm>
          <a:prstGeom prst="rect">
            <a:avLst/>
          </a:prstGeom>
          <a:noFill/>
          <a:ln w="0">
            <a:noFill/>
          </a:ln>
        </p:spPr>
        <p:style>
          <a:lnRef idx="0"/>
          <a:fillRef idx="0"/>
          <a:effectRef idx="0"/>
          <a:fontRef idx="minor"/>
        </p:style>
        <p:txBody>
          <a:bodyPr lIns="0" tIns="0" rIns="0" bIns="0" anchor="t">
            <a:noAutofit/>
          </a:bodyPr>
          <a:p>
            <a:pPr>
              <a:lnSpc>
                <a:spcPts val="2401"/>
              </a:lnSpc>
              <a:tabLst>
                <a:tab pos="0" algn="l"/>
              </a:tabLst>
            </a:pPr>
            <a:r>
              <a:rPr lang="it-IT" sz="1550" b="0" u="none" strike="noStrike">
                <a:solidFill>
                  <a:srgbClr val="FFFFFF"/>
                </a:solidFill>
                <a:effectLst/>
                <a:uFillTx/>
                <a:latin typeface="Arial"/>
                <a:ea typeface="Arial"/>
              </a:rPr>
              <a:t>An open-source library for studying how fine-tuning changes</a:t>
            </a:r>
            <a:endParaRPr lang="it-IT" sz="1550" b="0" u="none" strike="noStrike">
              <a:solidFill>
                <a:srgbClr val="000000"/>
              </a:solidFill>
              <a:effectLst/>
              <a:uFillTx/>
              <a:latin typeface="Arial"/>
            </a:endParaRPr>
          </a:p>
          <a:p>
            <a:pPr>
              <a:lnSpc>
                <a:spcPts val="2401"/>
              </a:lnSpc>
              <a:tabLst>
                <a:tab pos="0" algn="l"/>
              </a:tabLst>
            </a:pPr>
            <a:r>
              <a:rPr lang="it-IT" sz="1550" b="0" u="none" strike="noStrike">
                <a:solidFill>
                  <a:srgbClr val="FFFFFF"/>
                </a:solidFill>
                <a:effectLst/>
                <a:uFillTx/>
                <a:latin typeface="Arial"/>
                <a:ea typeface="Arial"/>
              </a:rPr>
              <a:t>model outputs and internal representations.</a:t>
            </a:r>
            <a:endParaRPr lang="it-IT" sz="1550" b="0" u="none" strike="noStrike">
              <a:solidFill>
                <a:srgbClr val="000000"/>
              </a:solidFill>
              <a:effectLst/>
              <a:uFillTx/>
              <a:latin typeface="Arial"/>
            </a:endParaRPr>
          </a:p>
        </p:txBody>
      </p:sp>
      <p:sp>
        <p:nvSpPr>
          <p:cNvPr id="16" name="Text 5"/>
          <p:cNvSpPr/>
          <p:nvPr/>
        </p:nvSpPr>
        <p:spPr>
          <a:xfrm>
            <a:off x="567000" y="5961960"/>
            <a:ext cx="6400440" cy="2923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250" b="0" u="none" strike="noStrike">
                <a:solidFill>
                  <a:srgbClr val="D6E7E8"/>
                </a:solidFill>
                <a:effectLst/>
                <a:uFillTx/>
                <a:latin typeface="Arial"/>
                <a:ea typeface="Arial"/>
              </a:rPr>
              <a:t>Alexander Paolo Zeisberg Militerni</a:t>
            </a:r>
            <a:endParaRPr lang="it-IT" sz="1250" b="0" u="none" strike="noStrike">
              <a:solidFill>
                <a:srgbClr val="000000"/>
              </a:solidFill>
              <a:effectLst/>
              <a:uFillTx/>
              <a:latin typeface="Arial"/>
            </a:endParaRPr>
          </a:p>
        </p:txBody>
      </p:sp>
      <p:sp>
        <p:nvSpPr>
          <p:cNvPr id="17" name="Text 6"/>
          <p:cNvSpPr/>
          <p:nvPr/>
        </p:nvSpPr>
        <p:spPr>
          <a:xfrm>
            <a:off x="6138360" y="5961960"/>
            <a:ext cx="5486040" cy="29232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250" b="0" u="none" strike="noStrike">
                <a:solidFill>
                  <a:srgbClr val="D6E7E8"/>
                </a:solidFill>
                <a:effectLst/>
                <a:uFillTx/>
                <a:latin typeface="Arial"/>
                <a:ea typeface="Arial"/>
              </a:rPr>
              <a:t>Research release candidate v1.0.0rc2  ·  September 2026</a:t>
            </a:r>
            <a:endParaRPr lang="it-IT" sz="1250" b="0" u="none" strike="noStrike">
              <a:solidFill>
                <a:srgbClr val="000000"/>
              </a:solidFill>
              <a:effectLst/>
              <a:uFillTx/>
              <a:latin typeface="Arial"/>
            </a:endParaRPr>
          </a:p>
        </p:txBody>
      </p:sp>
      <p:sp>
        <p:nvSpPr>
          <p:cNvPr id="18" name="Text 7">
            <a:hlinkClick r:id="rId2"/>
          </p:cNvPr>
          <p:cNvSpPr/>
          <p:nvPr/>
        </p:nvSpPr>
        <p:spPr>
          <a:xfrm>
            <a:off x="567000" y="640080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3"/>
              </a:rPr>
              <a:t>github.com/blacklotus1985/era-screening</a:t>
            </a:r>
            <a:endParaRPr lang="it-IT" sz="900" b="0" u="none" strike="noStrike">
              <a:solidFill>
                <a:srgbClr val="000000"/>
              </a:solidFill>
              <a:effectLst/>
              <a:uFillTx/>
              <a:latin typeface="Arial"/>
            </a:endParaRPr>
          </a:p>
        </p:txBody>
      </p:sp>
      <p:sp>
        <p:nvSpPr>
          <p:cNvPr id="19" name="Text 8"/>
          <p:cNvSpPr/>
          <p:nvPr/>
        </p:nvSpPr>
        <p:spPr>
          <a:xfrm>
            <a:off x="10253160" y="640080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7F98A5"/>
                </a:solidFill>
                <a:effectLst/>
                <a:uFillTx/>
                <a:latin typeface="Arial"/>
                <a:ea typeface="Arial"/>
              </a:rPr>
              <a:t>1 / 9</a:t>
            </a:r>
            <a:endParaRPr lang="it-IT"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THE PROBLEM IT ADDRESSES</a:t>
            </a:r>
            <a:endParaRPr lang="it-IT" sz="1050" b="0" u="none" strike="noStrike">
              <a:solidFill>
                <a:srgbClr val="000000"/>
              </a:solidFill>
              <a:effectLst/>
              <a:uFillTx/>
              <a:latin typeface="Arial"/>
            </a:endParaRPr>
          </a:p>
        </p:txBody>
      </p:sp>
      <p:sp>
        <p:nvSpPr>
          <p:cNvPr id="21"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142B3A"/>
                </a:solidFill>
                <a:effectLst/>
                <a:uFillTx/>
                <a:latin typeface="Arial"/>
                <a:ea typeface="Arial"/>
              </a:rPr>
              <a:t>ERA</a:t>
            </a:r>
            <a:endParaRPr lang="it-IT" sz="1300" b="0" u="none" strike="noStrike">
              <a:solidFill>
                <a:srgbClr val="000000"/>
              </a:solidFill>
              <a:effectLst/>
              <a:uFillTx/>
              <a:latin typeface="Arial"/>
            </a:endParaRPr>
          </a:p>
        </p:txBody>
      </p:sp>
      <p:sp>
        <p:nvSpPr>
          <p:cNvPr id="22" name="Text 2"/>
          <p:cNvSpPr/>
          <p:nvPr/>
        </p:nvSpPr>
        <p:spPr>
          <a:xfrm>
            <a:off x="567000" y="786240"/>
            <a:ext cx="10881000" cy="1142640"/>
          </a:xfrm>
          <a:prstGeom prst="rect">
            <a:avLst/>
          </a:prstGeom>
          <a:noFill/>
          <a:ln w="0">
            <a:noFill/>
          </a:ln>
        </p:spPr>
        <p:style>
          <a:lnRef idx="0"/>
          <a:fillRef idx="0"/>
          <a:effectRef idx="0"/>
          <a:fontRef idx="minor"/>
        </p:style>
        <p:txBody>
          <a:bodyPr lIns="0" tIns="0" rIns="0" bIns="0" anchor="t">
            <a:noAutofit/>
          </a:bodyPr>
          <a:p>
            <a:pPr>
              <a:lnSpc>
                <a:spcPts val="3617"/>
              </a:lnSpc>
              <a:tabLst>
                <a:tab pos="0" algn="l"/>
              </a:tabLst>
            </a:pPr>
            <a:r>
              <a:rPr lang="it-IT" sz="3200" b="1" u="none" strike="noStrike">
                <a:solidFill>
                  <a:srgbClr val="142B3A"/>
                </a:solidFill>
                <a:effectLst/>
                <a:uFillTx/>
                <a:latin typeface="Arial"/>
                <a:ea typeface="Arial"/>
              </a:rPr>
              <a:t>Similar output changes can hide</a:t>
            </a:r>
            <a:endParaRPr lang="it-IT" sz="3200" b="0" u="none" strike="noStrike">
              <a:solidFill>
                <a:srgbClr val="000000"/>
              </a:solidFill>
              <a:effectLst/>
              <a:uFillTx/>
              <a:latin typeface="Arial"/>
            </a:endParaRPr>
          </a:p>
          <a:p>
            <a:pPr>
              <a:lnSpc>
                <a:spcPts val="3617"/>
              </a:lnSpc>
              <a:tabLst>
                <a:tab pos="0" algn="l"/>
              </a:tabLst>
            </a:pPr>
            <a:r>
              <a:rPr lang="it-IT" sz="3200" b="1" u="none" strike="noStrike">
                <a:solidFill>
                  <a:srgbClr val="142B3A"/>
                </a:solidFill>
                <a:effectLst/>
                <a:uFillTx/>
                <a:latin typeface="Arial"/>
                <a:ea typeface="Arial"/>
              </a:rPr>
              <a:t>different training effects</a:t>
            </a:r>
            <a:endParaRPr lang="it-IT" sz="3200" b="0" u="none" strike="noStrike">
              <a:solidFill>
                <a:srgbClr val="000000"/>
              </a:solidFill>
              <a:effectLst/>
              <a:uFillTx/>
              <a:latin typeface="Arial"/>
            </a:endParaRPr>
          </a:p>
        </p:txBody>
      </p:sp>
      <p:sp>
        <p:nvSpPr>
          <p:cNvPr id="23" name="Shape 4"/>
          <p:cNvSpPr/>
          <p:nvPr/>
        </p:nvSpPr>
        <p:spPr>
          <a:xfrm>
            <a:off x="566640" y="2468880"/>
            <a:ext cx="517572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24" name="Text 6"/>
          <p:cNvSpPr/>
          <p:nvPr/>
        </p:nvSpPr>
        <p:spPr>
          <a:xfrm>
            <a:off x="567000" y="2762280"/>
            <a:ext cx="5175000" cy="2142720"/>
          </a:xfrm>
          <a:prstGeom prst="rect">
            <a:avLst/>
          </a:prstGeom>
          <a:noFill/>
          <a:ln w="0">
            <a:noFill/>
          </a:ln>
        </p:spPr>
        <p:style>
          <a:lnRef idx="0"/>
          <a:fillRef idx="0"/>
          <a:effectRef idx="0"/>
          <a:fontRef idx="minor"/>
        </p:style>
        <p:txBody>
          <a:bodyPr lIns="0" tIns="0" rIns="0" bIns="0" anchor="t">
            <a:noAutofit/>
          </a:bodyPr>
          <a:p>
            <a:pPr>
              <a:lnSpc>
                <a:spcPts val="2100"/>
              </a:lnSpc>
              <a:tabLst>
                <a:tab pos="0" algn="l"/>
              </a:tabLst>
            </a:pPr>
            <a:r>
              <a:rPr lang="it-IT" sz="1400" b="0" u="none" strike="noStrike">
                <a:solidFill>
                  <a:srgbClr val="142B3A"/>
                </a:solidFill>
                <a:effectLst/>
                <a:uFillTx/>
                <a:latin typeface="Arial"/>
                <a:ea typeface="Arial"/>
              </a:rPr>
              <a:t>In a first study, two models showed similar overall changes in predicted probabilities. Yet the measured gender association weakened in one and strengthened in the other.</a:t>
            </a:r>
            <a:endParaRPr lang="it-IT" sz="1400" b="0" u="none" strike="noStrike">
              <a:solidFill>
                <a:srgbClr val="000000"/>
              </a:solidFill>
              <a:effectLst/>
              <a:uFillTx/>
              <a:latin typeface="Arial"/>
            </a:endParaRPr>
          </a:p>
        </p:txBody>
      </p:sp>
      <p:sp>
        <p:nvSpPr>
          <p:cNvPr id="25" name="Shape 7"/>
          <p:cNvSpPr/>
          <p:nvPr/>
        </p:nvSpPr>
        <p:spPr>
          <a:xfrm>
            <a:off x="6108120" y="2468880"/>
            <a:ext cx="517536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26" name="Text 9"/>
          <p:cNvSpPr/>
          <p:nvPr/>
        </p:nvSpPr>
        <p:spPr>
          <a:xfrm>
            <a:off x="6108120" y="2762280"/>
            <a:ext cx="5175000" cy="2142720"/>
          </a:xfrm>
          <a:prstGeom prst="rect">
            <a:avLst/>
          </a:prstGeom>
          <a:noFill/>
          <a:ln w="0">
            <a:noFill/>
          </a:ln>
        </p:spPr>
        <p:style>
          <a:lnRef idx="0"/>
          <a:fillRef idx="0"/>
          <a:effectRef idx="0"/>
          <a:fontRef idx="minor"/>
        </p:style>
        <p:txBody>
          <a:bodyPr lIns="0" tIns="0" rIns="0" bIns="0" anchor="t">
            <a:noAutofit/>
          </a:bodyPr>
          <a:p>
            <a:pPr>
              <a:lnSpc>
                <a:spcPts val="2100"/>
              </a:lnSpc>
              <a:tabLst>
                <a:tab pos="0" algn="l"/>
              </a:tabLst>
            </a:pPr>
            <a:r>
              <a:rPr lang="it-IT" sz="1400" b="0" u="none" strike="noStrike">
                <a:solidFill>
                  <a:srgbClr val="142B3A"/>
                </a:solidFill>
                <a:effectLst/>
                <a:uFillTx/>
                <a:latin typeface="Arial"/>
                <a:ea typeface="Arial"/>
              </a:rPr>
              <a:t>This is the question behind ERA.</a:t>
            </a:r>
            <a:endParaRPr lang="it-IT" sz="1400" b="0" u="none" strike="noStrike">
              <a:solidFill>
                <a:srgbClr val="000000"/>
              </a:solidFill>
              <a:effectLst/>
              <a:uFillTx/>
              <a:latin typeface="Arial"/>
            </a:endParaRPr>
          </a:p>
          <a:p>
            <a:pPr>
              <a:lnSpc>
                <a:spcPts val="2100"/>
              </a:lnSpc>
              <a:tabLst>
                <a:tab pos="0" algn="l"/>
              </a:tabLst>
            </a:pPr>
            <a:endParaRPr lang="it-IT" sz="1400" b="0" u="none" strike="noStrike">
              <a:solidFill>
                <a:srgbClr val="000000"/>
              </a:solidFill>
              <a:effectLst/>
              <a:uFillTx/>
              <a:latin typeface="Arial"/>
            </a:endParaRPr>
          </a:p>
          <a:p>
            <a:pPr>
              <a:lnSpc>
                <a:spcPts val="2100"/>
              </a:lnSpc>
              <a:tabLst>
                <a:tab pos="0" algn="l"/>
              </a:tabLst>
            </a:pPr>
            <a:r>
              <a:rPr lang="it-IT" sz="1400" b="0" u="none" strike="noStrike">
                <a:solidFill>
                  <a:srgbClr val="142B3A"/>
                </a:solidFill>
                <a:effectLst/>
                <a:uFillTx/>
                <a:latin typeface="Arial"/>
                <a:ea typeface="Arial"/>
              </a:rPr>
              <a:t>What do different measurements reveal about the same training intervention?</a:t>
            </a:r>
            <a:endParaRPr lang="it-IT" sz="1400" b="0" u="none" strike="noStrike">
              <a:solidFill>
                <a:srgbClr val="000000"/>
              </a:solidFill>
              <a:effectLst/>
              <a:uFillTx/>
              <a:latin typeface="Arial"/>
            </a:endParaRPr>
          </a:p>
        </p:txBody>
      </p:sp>
      <p:sp>
        <p:nvSpPr>
          <p:cNvPr id="27" name="Shape 10"/>
          <p:cNvSpPr/>
          <p:nvPr/>
        </p:nvSpPr>
        <p:spPr>
          <a:xfrm>
            <a:off x="0" y="5349240"/>
            <a:ext cx="12191400" cy="1508400"/>
          </a:xfrm>
          <a:prstGeom prst="rect">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28" name="Text 12"/>
          <p:cNvSpPr/>
          <p:nvPr/>
        </p:nvSpPr>
        <p:spPr>
          <a:xfrm>
            <a:off x="567000" y="5610240"/>
            <a:ext cx="10881000" cy="6854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550" b="0" u="none" strike="noStrike">
                <a:solidFill>
                  <a:srgbClr val="FFFFFF"/>
                </a:solidFill>
                <a:effectLst/>
                <a:uFillTx/>
                <a:latin typeface="Arial"/>
                <a:ea typeface="Arial"/>
              </a:rPr>
              <a:t>I'm building an open library to investigate this through model outputs and internal representations, and to make those comparisons reproducible and extensible.</a:t>
            </a:r>
            <a:endParaRPr lang="it-IT" sz="1550" b="0" u="none" strike="noStrike">
              <a:solidFill>
                <a:srgbClr val="000000"/>
              </a:solidFill>
              <a:effectLst/>
              <a:uFillTx/>
              <a:latin typeface="Arial"/>
            </a:endParaRPr>
          </a:p>
        </p:txBody>
      </p:sp>
      <p:sp>
        <p:nvSpPr>
          <p:cNvPr id="29" name="Text 13">
            <a:hlinkClick r:id="rId1"/>
          </p:cNvPr>
          <p:cNvSpPr/>
          <p:nvPr/>
        </p:nvSpPr>
        <p:spPr>
          <a:xfrm>
            <a:off x="567000" y="645552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000000"/>
              </a:solidFill>
              <a:effectLst/>
              <a:uFillTx/>
              <a:latin typeface="Arial"/>
            </a:endParaRPr>
          </a:p>
        </p:txBody>
      </p:sp>
      <p:sp>
        <p:nvSpPr>
          <p:cNvPr id="30" name="Text 14"/>
          <p:cNvSpPr/>
          <p:nvPr/>
        </p:nvSpPr>
        <p:spPr>
          <a:xfrm>
            <a:off x="10253160" y="645552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7F98A5"/>
                </a:solidFill>
                <a:effectLst/>
                <a:uFillTx/>
                <a:latin typeface="Arial"/>
                <a:ea typeface="Arial"/>
              </a:rPr>
              <a:t>2 / 9</a:t>
            </a:r>
            <a:endParaRPr lang="it-IT"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WHAT YOU CAN USE TODAY</a:t>
            </a:r>
            <a:endParaRPr lang="it-IT" sz="1050" b="0" u="none" strike="noStrike">
              <a:solidFill>
                <a:srgbClr val="000000"/>
              </a:solidFill>
              <a:effectLst/>
              <a:uFillTx/>
              <a:latin typeface="Arial"/>
            </a:endParaRPr>
          </a:p>
        </p:txBody>
      </p:sp>
      <p:sp>
        <p:nvSpPr>
          <p:cNvPr id="32"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142B3A"/>
                </a:solidFill>
                <a:effectLst/>
                <a:uFillTx/>
                <a:latin typeface="Arial"/>
                <a:ea typeface="Arial"/>
              </a:rPr>
              <a:t>ERA</a:t>
            </a:r>
            <a:endParaRPr lang="it-IT" sz="1300" b="0" u="none" strike="noStrike">
              <a:solidFill>
                <a:srgbClr val="000000"/>
              </a:solidFill>
              <a:effectLst/>
              <a:uFillTx/>
              <a:latin typeface="Arial"/>
            </a:endParaRPr>
          </a:p>
        </p:txBody>
      </p:sp>
      <p:sp>
        <p:nvSpPr>
          <p:cNvPr id="33" name="Text 2"/>
          <p:cNvSpPr/>
          <p:nvPr/>
        </p:nvSpPr>
        <p:spPr>
          <a:xfrm>
            <a:off x="567000" y="786240"/>
            <a:ext cx="10881000" cy="639720"/>
          </a:xfrm>
          <a:prstGeom prst="rect">
            <a:avLst/>
          </a:prstGeom>
          <a:noFill/>
          <a:ln w="0">
            <a:noFill/>
          </a:ln>
        </p:spPr>
        <p:style>
          <a:lnRef idx="0"/>
          <a:fillRef idx="0"/>
          <a:effectRef idx="0"/>
          <a:fontRef idx="minor"/>
        </p:style>
        <p:txBody>
          <a:bodyPr lIns="0" tIns="0" rIns="0" bIns="0" anchor="t">
            <a:noAutofit/>
          </a:bodyPr>
          <a:p>
            <a:pPr>
              <a:lnSpc>
                <a:spcPts val="3617"/>
              </a:lnSpc>
              <a:tabLst>
                <a:tab pos="0" algn="l"/>
              </a:tabLst>
            </a:pPr>
            <a:r>
              <a:rPr lang="it-IT" sz="3200" b="1" u="none" strike="noStrike">
                <a:solidFill>
                  <a:srgbClr val="142B3A"/>
                </a:solidFill>
                <a:effectLst/>
                <a:uFillTx/>
                <a:latin typeface="Arial"/>
                <a:ea typeface="Arial"/>
              </a:rPr>
              <a:t>What it compares, and what you supply</a:t>
            </a:r>
            <a:endParaRPr lang="it-IT" sz="3200" b="0" u="none" strike="noStrike">
              <a:solidFill>
                <a:srgbClr val="000000"/>
              </a:solidFill>
              <a:effectLst/>
              <a:uFillTx/>
              <a:latin typeface="Arial"/>
            </a:endParaRPr>
          </a:p>
        </p:txBody>
      </p:sp>
      <p:sp>
        <p:nvSpPr>
          <p:cNvPr id="34" name="Text 3"/>
          <p:cNvSpPr/>
          <p:nvPr/>
        </p:nvSpPr>
        <p:spPr>
          <a:xfrm>
            <a:off x="567000" y="1536120"/>
            <a:ext cx="10881000" cy="45684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50" b="0" u="none" strike="noStrike">
                <a:solidFill>
                  <a:srgbClr val="556773"/>
                </a:solidFill>
                <a:effectLst/>
                <a:uFillTx/>
                <a:latin typeface="Arial"/>
                <a:ea typeface="Arial"/>
              </a:rPr>
              <a:t>The gender study is one example. The pipeline is the same for any compatible pair.</a:t>
            </a:r>
            <a:endParaRPr lang="it-IT" sz="1450" b="0" u="none" strike="noStrike">
              <a:solidFill>
                <a:srgbClr val="000000"/>
              </a:solidFill>
              <a:effectLst/>
              <a:uFillTx/>
              <a:latin typeface="Arial"/>
            </a:endParaRPr>
          </a:p>
        </p:txBody>
      </p:sp>
      <p:sp>
        <p:nvSpPr>
          <p:cNvPr id="35" name="Shape 4"/>
          <p:cNvSpPr/>
          <p:nvPr/>
        </p:nvSpPr>
        <p:spPr>
          <a:xfrm>
            <a:off x="567000" y="2286000"/>
            <a:ext cx="4663080" cy="566640"/>
          </a:xfrm>
          <a:prstGeom prst="roundRect">
            <a:avLst>
              <a:gd name="adj" fmla="val 12903"/>
            </a:avLst>
          </a:prstGeom>
          <a:solidFill>
            <a:srgbClr val="EEF5F4"/>
          </a:solidFill>
          <a:ln w="12700">
            <a:solidFill>
              <a:srgbClr val="377E80"/>
            </a:solidFill>
            <a:round/>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36" name="Text 5"/>
          <p:cNvSpPr/>
          <p:nvPr/>
        </p:nvSpPr>
        <p:spPr>
          <a:xfrm>
            <a:off x="567000" y="2286000"/>
            <a:ext cx="466308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0" u="none" strike="noStrike">
                <a:solidFill>
                  <a:srgbClr val="142B3A"/>
                </a:solidFill>
                <a:effectLst/>
                <a:uFillTx/>
                <a:latin typeface="Arial"/>
                <a:ea typeface="Arial"/>
              </a:rPr>
              <a:t>A compatible model pair</a:t>
            </a:r>
            <a:endParaRPr lang="it-IT" sz="1250" b="0" u="none" strike="noStrike">
              <a:solidFill>
                <a:srgbClr val="000000"/>
              </a:solidFill>
              <a:effectLst/>
              <a:uFillTx/>
              <a:latin typeface="Arial"/>
            </a:endParaRPr>
          </a:p>
        </p:txBody>
      </p:sp>
      <p:sp>
        <p:nvSpPr>
          <p:cNvPr id="37" name="Shape 6"/>
          <p:cNvSpPr/>
          <p:nvPr/>
        </p:nvSpPr>
        <p:spPr>
          <a:xfrm>
            <a:off x="2898360" y="2852640"/>
            <a:ext cx="360" cy="182880"/>
          </a:xfrm>
          <a:prstGeom prst="line">
            <a:avLst/>
          </a:prstGeom>
          <a:ln w="15875">
            <a:solidFill>
              <a:srgbClr val="377E80"/>
            </a:solidFill>
            <a:round/>
            <a:tailEnd len="med" type="triangle" w="med"/>
          </a:ln>
        </p:spPr>
        <p:style>
          <a:lnRef idx="0"/>
          <a:fillRef idx="0"/>
          <a:effectRef idx="0"/>
          <a:fontRef idx="minor"/>
        </p:style>
        <p:txBody>
          <a:bodyPr lIns="90000" tIns="45000" rIns="90000" bIns="45000" anchor="t" anchorCtr="1">
            <a:noAutofit/>
          </a:bodyPr>
          <a:p>
            <a:endParaRPr lang="it-IT" sz="1800" b="0" u="none" strike="noStrike">
              <a:solidFill>
                <a:srgbClr val="000000"/>
              </a:solidFill>
              <a:effectLst/>
              <a:uFillTx/>
              <a:latin typeface="Arial"/>
            </a:endParaRPr>
          </a:p>
        </p:txBody>
      </p:sp>
      <p:sp>
        <p:nvSpPr>
          <p:cNvPr id="38" name="Shape 7"/>
          <p:cNvSpPr/>
          <p:nvPr/>
        </p:nvSpPr>
        <p:spPr>
          <a:xfrm>
            <a:off x="567000" y="3035880"/>
            <a:ext cx="4663080" cy="566640"/>
          </a:xfrm>
          <a:prstGeom prst="roundRect">
            <a:avLst>
              <a:gd name="adj" fmla="val 12903"/>
            </a:avLst>
          </a:prstGeom>
          <a:solidFill>
            <a:srgbClr val="EEF5F4"/>
          </a:solidFill>
          <a:ln w="12700">
            <a:solidFill>
              <a:srgbClr val="377E80"/>
            </a:solidFill>
            <a:round/>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39" name="Text 8"/>
          <p:cNvSpPr/>
          <p:nvPr/>
        </p:nvSpPr>
        <p:spPr>
          <a:xfrm>
            <a:off x="567000" y="3035880"/>
            <a:ext cx="466308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0" u="none" strike="noStrike">
                <a:solidFill>
                  <a:srgbClr val="142B3A"/>
                </a:solidFill>
                <a:effectLst/>
                <a:uFillTx/>
                <a:latin typeface="Arial"/>
                <a:ea typeface="Arial"/>
              </a:rPr>
              <a:t>Your test inputs and concept words</a:t>
            </a:r>
            <a:endParaRPr lang="it-IT" sz="1250" b="0" u="none" strike="noStrike">
              <a:solidFill>
                <a:srgbClr val="000000"/>
              </a:solidFill>
              <a:effectLst/>
              <a:uFillTx/>
              <a:latin typeface="Arial"/>
            </a:endParaRPr>
          </a:p>
        </p:txBody>
      </p:sp>
      <p:sp>
        <p:nvSpPr>
          <p:cNvPr id="40" name="Shape 9"/>
          <p:cNvSpPr/>
          <p:nvPr/>
        </p:nvSpPr>
        <p:spPr>
          <a:xfrm>
            <a:off x="2898360" y="3602520"/>
            <a:ext cx="360" cy="182880"/>
          </a:xfrm>
          <a:prstGeom prst="line">
            <a:avLst/>
          </a:prstGeom>
          <a:ln w="15875">
            <a:solidFill>
              <a:srgbClr val="377E80"/>
            </a:solidFill>
            <a:round/>
            <a:tailEnd len="med" type="triangle" w="med"/>
          </a:ln>
        </p:spPr>
        <p:style>
          <a:lnRef idx="0"/>
          <a:fillRef idx="0"/>
          <a:effectRef idx="0"/>
          <a:fontRef idx="minor"/>
        </p:style>
        <p:txBody>
          <a:bodyPr lIns="90000" tIns="45000" rIns="90000" bIns="45000" anchor="t" anchorCtr="1">
            <a:noAutofit/>
          </a:bodyPr>
          <a:p>
            <a:endParaRPr lang="it-IT" sz="1800" b="0" u="none" strike="noStrike">
              <a:solidFill>
                <a:srgbClr val="000000"/>
              </a:solidFill>
              <a:effectLst/>
              <a:uFillTx/>
              <a:latin typeface="Arial"/>
            </a:endParaRPr>
          </a:p>
        </p:txBody>
      </p:sp>
      <p:sp>
        <p:nvSpPr>
          <p:cNvPr id="41" name="Shape 10"/>
          <p:cNvSpPr/>
          <p:nvPr/>
        </p:nvSpPr>
        <p:spPr>
          <a:xfrm>
            <a:off x="567000" y="3785760"/>
            <a:ext cx="4663080" cy="566640"/>
          </a:xfrm>
          <a:prstGeom prst="roundRect">
            <a:avLst>
              <a:gd name="adj" fmla="val 12903"/>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42" name="Text 11"/>
          <p:cNvSpPr/>
          <p:nvPr/>
        </p:nvSpPr>
        <p:spPr>
          <a:xfrm>
            <a:off x="567000" y="3785760"/>
            <a:ext cx="466308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0" u="none" strike="noStrike">
                <a:solidFill>
                  <a:srgbClr val="FFFFFF"/>
                </a:solidFill>
                <a:effectLst/>
                <a:uFillTx/>
                <a:latin typeface="Arial"/>
                <a:ea typeface="Arial"/>
              </a:rPr>
              <a:t>Separate output and internal measurements</a:t>
            </a:r>
            <a:endParaRPr lang="it-IT" sz="1250" b="0" u="none" strike="noStrike">
              <a:solidFill>
                <a:srgbClr val="000000"/>
              </a:solidFill>
              <a:effectLst/>
              <a:uFillTx/>
              <a:latin typeface="Arial"/>
            </a:endParaRPr>
          </a:p>
        </p:txBody>
      </p:sp>
      <p:sp>
        <p:nvSpPr>
          <p:cNvPr id="43" name="Shape 12"/>
          <p:cNvSpPr/>
          <p:nvPr/>
        </p:nvSpPr>
        <p:spPr>
          <a:xfrm>
            <a:off x="2898360" y="4352400"/>
            <a:ext cx="360" cy="182880"/>
          </a:xfrm>
          <a:prstGeom prst="line">
            <a:avLst/>
          </a:prstGeom>
          <a:ln w="15875">
            <a:solidFill>
              <a:srgbClr val="377E80"/>
            </a:solidFill>
            <a:round/>
            <a:tailEnd len="med" type="triangle" w="med"/>
          </a:ln>
        </p:spPr>
        <p:style>
          <a:lnRef idx="0"/>
          <a:fillRef idx="0"/>
          <a:effectRef idx="0"/>
          <a:fontRef idx="minor"/>
        </p:style>
        <p:txBody>
          <a:bodyPr lIns="90000" tIns="45000" rIns="90000" bIns="45000" anchor="t" anchorCtr="1">
            <a:noAutofit/>
          </a:bodyPr>
          <a:p>
            <a:endParaRPr lang="it-IT" sz="1800" b="0" u="none" strike="noStrike">
              <a:solidFill>
                <a:srgbClr val="000000"/>
              </a:solidFill>
              <a:effectLst/>
              <a:uFillTx/>
              <a:latin typeface="Arial"/>
            </a:endParaRPr>
          </a:p>
        </p:txBody>
      </p:sp>
      <p:sp>
        <p:nvSpPr>
          <p:cNvPr id="44" name="Shape 13"/>
          <p:cNvSpPr/>
          <p:nvPr/>
        </p:nvSpPr>
        <p:spPr>
          <a:xfrm>
            <a:off x="567000" y="4535280"/>
            <a:ext cx="4663080" cy="566640"/>
          </a:xfrm>
          <a:prstGeom prst="roundRect">
            <a:avLst>
              <a:gd name="adj" fmla="val 12903"/>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45" name="Text 14"/>
          <p:cNvSpPr/>
          <p:nvPr/>
        </p:nvSpPr>
        <p:spPr>
          <a:xfrm>
            <a:off x="567000" y="4535280"/>
            <a:ext cx="466308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0" u="none" strike="noStrike">
                <a:solidFill>
                  <a:srgbClr val="FFFFFF"/>
                </a:solidFill>
                <a:effectLst/>
                <a:uFillTx/>
                <a:latin typeface="Arial"/>
                <a:ea typeface="Arial"/>
              </a:rPr>
              <a:t>Evidence you can inspect</a:t>
            </a:r>
            <a:endParaRPr lang="it-IT" sz="1250" b="0" u="none" strike="noStrike">
              <a:solidFill>
                <a:srgbClr val="000000"/>
              </a:solidFill>
              <a:effectLst/>
              <a:uFillTx/>
              <a:latin typeface="Arial"/>
            </a:endParaRPr>
          </a:p>
        </p:txBody>
      </p:sp>
      <p:sp>
        <p:nvSpPr>
          <p:cNvPr id="46" name="Text 15"/>
          <p:cNvSpPr/>
          <p:nvPr/>
        </p:nvSpPr>
        <p:spPr>
          <a:xfrm>
            <a:off x="6035040" y="2286000"/>
            <a:ext cx="55958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39" strike="noStrike">
                <a:solidFill>
                  <a:srgbClr val="377E80"/>
                </a:solidFill>
                <a:effectLst/>
                <a:uFillTx/>
                <a:latin typeface="Arial"/>
                <a:ea typeface="Arial"/>
              </a:rPr>
              <a:t>THE FOUR VIEWS USED IN THIS STUDY</a:t>
            </a:r>
            <a:endParaRPr lang="it-IT" sz="1050" b="0" u="none" strike="noStrike">
              <a:solidFill>
                <a:srgbClr val="000000"/>
              </a:solidFill>
              <a:effectLst/>
              <a:uFillTx/>
              <a:latin typeface="Arial"/>
            </a:endParaRPr>
          </a:p>
        </p:txBody>
      </p:sp>
      <p:sp>
        <p:nvSpPr>
          <p:cNvPr id="47" name="Shape 16"/>
          <p:cNvSpPr/>
          <p:nvPr/>
        </p:nvSpPr>
        <p:spPr>
          <a:xfrm>
            <a:off x="6035040" y="2669760"/>
            <a:ext cx="559584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48" name="Text 17"/>
          <p:cNvSpPr/>
          <p:nvPr/>
        </p:nvSpPr>
        <p:spPr>
          <a:xfrm>
            <a:off x="6035040" y="2761560"/>
            <a:ext cx="4114440" cy="383760"/>
          </a:xfrm>
          <a:prstGeom prst="rect">
            <a:avLst/>
          </a:prstGeom>
          <a:noFill/>
          <a:ln w="0">
            <a:noFill/>
          </a:ln>
        </p:spPr>
        <p:style>
          <a:lnRef idx="0"/>
          <a:fillRef idx="0"/>
          <a:effectRef idx="0"/>
          <a:fontRef idx="minor"/>
        </p:style>
        <p:txBody>
          <a:bodyPr lIns="0" tIns="0" rIns="0" bIns="0" anchor="ctr">
            <a:noAutofit/>
          </a:bodyPr>
          <a:p>
            <a:pPr>
              <a:lnSpc>
                <a:spcPts val="1599"/>
              </a:lnSpc>
              <a:tabLst>
                <a:tab pos="0" algn="l"/>
              </a:tabLst>
            </a:pPr>
            <a:r>
              <a:rPr lang="it-IT" sz="1300" b="0" u="none" strike="noStrike">
                <a:solidFill>
                  <a:srgbClr val="142B3A"/>
                </a:solidFill>
                <a:effectLst/>
                <a:uFillTx/>
                <a:latin typeface="Arial"/>
                <a:ea typeface="Arial"/>
              </a:rPr>
              <a:t>How much the output moved</a:t>
            </a:r>
            <a:endParaRPr lang="it-IT" sz="1300" b="0" u="none" strike="noStrike">
              <a:solidFill>
                <a:srgbClr val="000000"/>
              </a:solidFill>
              <a:effectLst/>
              <a:uFillTx/>
              <a:latin typeface="Arial"/>
            </a:endParaRPr>
          </a:p>
        </p:txBody>
      </p:sp>
      <p:sp>
        <p:nvSpPr>
          <p:cNvPr id="49" name="Text 18"/>
          <p:cNvSpPr/>
          <p:nvPr/>
        </p:nvSpPr>
        <p:spPr>
          <a:xfrm>
            <a:off x="10195560" y="2761560"/>
            <a:ext cx="1435320" cy="3837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050" b="0" u="none" strike="noStrike">
                <a:solidFill>
                  <a:srgbClr val="556773"/>
                </a:solidFill>
                <a:effectLst/>
                <a:uFillTx/>
                <a:latin typeface="Courier New"/>
                <a:ea typeface="Courier New"/>
              </a:rPr>
              <a:t>B</a:t>
            </a:r>
            <a:endParaRPr lang="it-IT" sz="1050" b="0" u="none" strike="noStrike">
              <a:solidFill>
                <a:srgbClr val="000000"/>
              </a:solidFill>
              <a:effectLst/>
              <a:uFillTx/>
              <a:latin typeface="Arial"/>
            </a:endParaRPr>
          </a:p>
        </p:txBody>
      </p:sp>
      <p:sp>
        <p:nvSpPr>
          <p:cNvPr id="50" name="Shape 19"/>
          <p:cNvSpPr/>
          <p:nvPr/>
        </p:nvSpPr>
        <p:spPr>
          <a:xfrm>
            <a:off x="6035040" y="3236760"/>
            <a:ext cx="559584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51" name="Text 20"/>
          <p:cNvSpPr/>
          <p:nvPr/>
        </p:nvSpPr>
        <p:spPr>
          <a:xfrm>
            <a:off x="6035040" y="3328560"/>
            <a:ext cx="4114440" cy="383760"/>
          </a:xfrm>
          <a:prstGeom prst="rect">
            <a:avLst/>
          </a:prstGeom>
          <a:noFill/>
          <a:ln w="0">
            <a:noFill/>
          </a:ln>
        </p:spPr>
        <p:style>
          <a:lnRef idx="0"/>
          <a:fillRef idx="0"/>
          <a:effectRef idx="0"/>
          <a:fontRef idx="minor"/>
        </p:style>
        <p:txBody>
          <a:bodyPr lIns="0" tIns="0" rIns="0" bIns="0" anchor="ctr">
            <a:noAutofit/>
          </a:bodyPr>
          <a:p>
            <a:pPr>
              <a:lnSpc>
                <a:spcPts val="1599"/>
              </a:lnSpc>
              <a:tabLst>
                <a:tab pos="0" algn="l"/>
              </a:tabLst>
            </a:pPr>
            <a:r>
              <a:rPr lang="it-IT" sz="1300" b="0" u="none" strike="noStrike">
                <a:solidFill>
                  <a:srgbClr val="142B3A"/>
                </a:solidFill>
                <a:effectLst/>
                <a:uFillTx/>
                <a:latin typeface="Arial"/>
                <a:ea typeface="Arial"/>
              </a:rPr>
              <a:t>What kind of probability moved</a:t>
            </a:r>
            <a:endParaRPr lang="it-IT" sz="1300" b="0" u="none" strike="noStrike">
              <a:solidFill>
                <a:srgbClr val="000000"/>
              </a:solidFill>
              <a:effectLst/>
              <a:uFillTx/>
              <a:latin typeface="Arial"/>
            </a:endParaRPr>
          </a:p>
        </p:txBody>
      </p:sp>
      <p:sp>
        <p:nvSpPr>
          <p:cNvPr id="52" name="Text 21"/>
          <p:cNvSpPr/>
          <p:nvPr/>
        </p:nvSpPr>
        <p:spPr>
          <a:xfrm>
            <a:off x="10195560" y="3328560"/>
            <a:ext cx="1435320" cy="3837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050" b="0" u="none" strike="noStrike">
                <a:solidFill>
                  <a:srgbClr val="556773"/>
                </a:solidFill>
                <a:effectLst/>
                <a:uFillTx/>
                <a:latin typeface="Courier New"/>
                <a:ea typeface="Courier New"/>
              </a:rPr>
              <a:t>between / within</a:t>
            </a:r>
            <a:endParaRPr lang="it-IT" sz="1050" b="0" u="none" strike="noStrike">
              <a:solidFill>
                <a:srgbClr val="000000"/>
              </a:solidFill>
              <a:effectLst/>
              <a:uFillTx/>
              <a:latin typeface="Arial"/>
            </a:endParaRPr>
          </a:p>
        </p:txBody>
      </p:sp>
      <p:sp>
        <p:nvSpPr>
          <p:cNvPr id="53" name="Shape 22"/>
          <p:cNvSpPr/>
          <p:nvPr/>
        </p:nvSpPr>
        <p:spPr>
          <a:xfrm>
            <a:off x="6035040" y="3803760"/>
            <a:ext cx="559584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54" name="Text 23"/>
          <p:cNvSpPr/>
          <p:nvPr/>
        </p:nvSpPr>
        <p:spPr>
          <a:xfrm>
            <a:off x="6035040" y="3895200"/>
            <a:ext cx="4114440" cy="383760"/>
          </a:xfrm>
          <a:prstGeom prst="rect">
            <a:avLst/>
          </a:prstGeom>
          <a:noFill/>
          <a:ln w="0">
            <a:noFill/>
          </a:ln>
        </p:spPr>
        <p:style>
          <a:lnRef idx="0"/>
          <a:fillRef idx="0"/>
          <a:effectRef idx="0"/>
          <a:fontRef idx="minor"/>
        </p:style>
        <p:txBody>
          <a:bodyPr lIns="0" tIns="0" rIns="0" bIns="0" anchor="ctr">
            <a:noAutofit/>
          </a:bodyPr>
          <a:p>
            <a:pPr>
              <a:lnSpc>
                <a:spcPts val="1599"/>
              </a:lnSpc>
              <a:tabLst>
                <a:tab pos="0" algn="l"/>
              </a:tabLst>
            </a:pPr>
            <a:r>
              <a:rPr lang="it-IT" sz="1300" b="0" u="none" strike="noStrike">
                <a:solidFill>
                  <a:srgbClr val="142B3A"/>
                </a:solidFill>
                <a:effectLst/>
                <a:uFillTx/>
                <a:latin typeface="Arial"/>
                <a:ea typeface="Arial"/>
              </a:rPr>
              <a:t>Whether the association changed on the test inputs</a:t>
            </a:r>
            <a:endParaRPr lang="it-IT" sz="1300" b="0" u="none" strike="noStrike">
              <a:solidFill>
                <a:srgbClr val="000000"/>
              </a:solidFill>
              <a:effectLst/>
              <a:uFillTx/>
              <a:latin typeface="Arial"/>
            </a:endParaRPr>
          </a:p>
        </p:txBody>
      </p:sp>
      <p:sp>
        <p:nvSpPr>
          <p:cNvPr id="55" name="Text 24"/>
          <p:cNvSpPr/>
          <p:nvPr/>
        </p:nvSpPr>
        <p:spPr>
          <a:xfrm>
            <a:off x="10195560" y="3895200"/>
            <a:ext cx="1435320" cy="3837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050" b="0" u="none" strike="noStrike">
                <a:solidFill>
                  <a:srgbClr val="556773"/>
                </a:solidFill>
                <a:effectLst/>
                <a:uFillTx/>
                <a:latin typeface="Courier New"/>
                <a:ea typeface="Courier New"/>
              </a:rPr>
              <a:t>ΔSI</a:t>
            </a:r>
            <a:endParaRPr lang="it-IT" sz="1050" b="0" u="none" strike="noStrike">
              <a:solidFill>
                <a:srgbClr val="000000"/>
              </a:solidFill>
              <a:effectLst/>
              <a:uFillTx/>
              <a:latin typeface="Arial"/>
            </a:endParaRPr>
          </a:p>
        </p:txBody>
      </p:sp>
      <p:sp>
        <p:nvSpPr>
          <p:cNvPr id="56" name="Shape 25"/>
          <p:cNvSpPr/>
          <p:nvPr/>
        </p:nvSpPr>
        <p:spPr>
          <a:xfrm>
            <a:off x="6035040" y="4370760"/>
            <a:ext cx="559584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57" name="Text 26"/>
          <p:cNvSpPr/>
          <p:nvPr/>
        </p:nvSpPr>
        <p:spPr>
          <a:xfrm>
            <a:off x="6035040" y="4462200"/>
            <a:ext cx="4114440" cy="383760"/>
          </a:xfrm>
          <a:prstGeom prst="rect">
            <a:avLst/>
          </a:prstGeom>
          <a:noFill/>
          <a:ln w="0">
            <a:noFill/>
          </a:ln>
        </p:spPr>
        <p:style>
          <a:lnRef idx="0"/>
          <a:fillRef idx="0"/>
          <a:effectRef idx="0"/>
          <a:fontRef idx="minor"/>
        </p:style>
        <p:txBody>
          <a:bodyPr lIns="0" tIns="0" rIns="0" bIns="0" anchor="ctr">
            <a:noAutofit/>
          </a:bodyPr>
          <a:p>
            <a:pPr>
              <a:lnSpc>
                <a:spcPts val="1599"/>
              </a:lnSpc>
              <a:tabLst>
                <a:tab pos="0" algn="l"/>
              </a:tabLst>
            </a:pPr>
            <a:r>
              <a:rPr lang="it-IT" sz="1300" b="0" u="none" strike="noStrike">
                <a:solidFill>
                  <a:srgbClr val="142B3A"/>
                </a:solidFill>
                <a:effectLst/>
                <a:uFillTx/>
                <a:latin typeface="Arial"/>
                <a:ea typeface="Arial"/>
              </a:rPr>
              <a:t>How far the internal representations turned</a:t>
            </a:r>
            <a:endParaRPr lang="it-IT" sz="1300" b="0" u="none" strike="noStrike">
              <a:solidFill>
                <a:srgbClr val="000000"/>
              </a:solidFill>
              <a:effectLst/>
              <a:uFillTx/>
              <a:latin typeface="Arial"/>
            </a:endParaRPr>
          </a:p>
        </p:txBody>
      </p:sp>
      <p:sp>
        <p:nvSpPr>
          <p:cNvPr id="58" name="Text 27"/>
          <p:cNvSpPr/>
          <p:nvPr/>
        </p:nvSpPr>
        <p:spPr>
          <a:xfrm>
            <a:off x="10195560" y="4462200"/>
            <a:ext cx="1435320" cy="3837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050" b="0" u="none" strike="noStrike">
                <a:solidFill>
                  <a:srgbClr val="556773"/>
                </a:solidFill>
                <a:effectLst/>
                <a:uFillTx/>
                <a:latin typeface="Courier New"/>
                <a:ea typeface="Courier New"/>
              </a:rPr>
              <a:t>1 − G</a:t>
            </a:r>
            <a:endParaRPr lang="it-IT" sz="1050" b="0" u="none" strike="noStrike">
              <a:solidFill>
                <a:srgbClr val="000000"/>
              </a:solidFill>
              <a:effectLst/>
              <a:uFillTx/>
              <a:latin typeface="Arial"/>
            </a:endParaRPr>
          </a:p>
        </p:txBody>
      </p:sp>
      <p:sp>
        <p:nvSpPr>
          <p:cNvPr id="59" name="Shape 28"/>
          <p:cNvSpPr/>
          <p:nvPr/>
        </p:nvSpPr>
        <p:spPr>
          <a:xfrm>
            <a:off x="6035040" y="4937760"/>
            <a:ext cx="559584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60" name="Shape 29"/>
          <p:cNvSpPr/>
          <p:nvPr/>
        </p:nvSpPr>
        <p:spPr>
          <a:xfrm>
            <a:off x="0" y="5541120"/>
            <a:ext cx="12191400" cy="1316520"/>
          </a:xfrm>
          <a:prstGeom prst="rect">
            <a:avLst/>
          </a:prstGeom>
          <a:solidFill>
            <a:srgbClr val="EEF5F4"/>
          </a:solidFill>
          <a:ln w="0">
            <a:noFill/>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61" name="Text 30"/>
          <p:cNvSpPr/>
          <p:nvPr/>
        </p:nvSpPr>
        <p:spPr>
          <a:xfrm>
            <a:off x="567000" y="5706000"/>
            <a:ext cx="2925720" cy="2923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400" b="1" u="none" strike="noStrike">
                <a:solidFill>
                  <a:srgbClr val="142B3A"/>
                </a:solidFill>
                <a:effectLst/>
                <a:uFillTx/>
                <a:latin typeface="Arial"/>
                <a:ea typeface="Arial"/>
              </a:rPr>
              <a:t>What the report keeps</a:t>
            </a:r>
            <a:endParaRPr lang="it-IT" sz="1400" b="0" u="none" strike="noStrike">
              <a:solidFill>
                <a:srgbClr val="000000"/>
              </a:solidFill>
              <a:effectLst/>
              <a:uFillTx/>
              <a:latin typeface="Arial"/>
            </a:endParaRPr>
          </a:p>
        </p:txBody>
      </p:sp>
      <p:sp>
        <p:nvSpPr>
          <p:cNvPr id="62" name="Text 31"/>
          <p:cNvSpPr/>
          <p:nvPr/>
        </p:nvSpPr>
        <p:spPr>
          <a:xfrm>
            <a:off x="3767400" y="5669280"/>
            <a:ext cx="7817760" cy="639720"/>
          </a:xfrm>
          <a:prstGeom prst="rect">
            <a:avLst/>
          </a:prstGeom>
          <a:noFill/>
          <a:ln w="0">
            <a:noFill/>
          </a:ln>
        </p:spPr>
        <p:style>
          <a:lnRef idx="0"/>
          <a:fillRef idx="0"/>
          <a:effectRef idx="0"/>
          <a:fontRef idx="minor"/>
        </p:style>
        <p:txBody>
          <a:bodyPr lIns="0" tIns="0" rIns="0" bIns="0" anchor="ctr">
            <a:noAutofit/>
          </a:bodyPr>
          <a:p>
            <a:pPr>
              <a:lnSpc>
                <a:spcPts val="1599"/>
              </a:lnSpc>
              <a:tabLst>
                <a:tab pos="0" algn="l"/>
              </a:tabLst>
            </a:pPr>
            <a:r>
              <a:rPr lang="it-IT" sz="1200" b="0" u="none" strike="noStrike">
                <a:solidFill>
                  <a:srgbClr val="556773"/>
                </a:solidFill>
                <a:effectLst/>
                <a:uFillTx/>
                <a:latin typeface="Arial"/>
                <a:ea typeface="Arial"/>
              </a:rPr>
              <a:t>The model versions, the test inputs and the settings behind each measurement, with identifiers that let someone else check the same evidence.</a:t>
            </a:r>
            <a:endParaRPr lang="it-IT" sz="1200" b="0" u="none" strike="noStrike">
              <a:solidFill>
                <a:srgbClr val="000000"/>
              </a:solidFill>
              <a:effectLst/>
              <a:uFillTx/>
              <a:latin typeface="Arial"/>
            </a:endParaRPr>
          </a:p>
        </p:txBody>
      </p:sp>
      <p:sp>
        <p:nvSpPr>
          <p:cNvPr id="63" name="Text 32">
            <a:hlinkClick r:id="rId1"/>
          </p:cNvPr>
          <p:cNvSpPr/>
          <p:nvPr/>
        </p:nvSpPr>
        <p:spPr>
          <a:xfrm>
            <a:off x="567000" y="645552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000000"/>
              </a:solidFill>
              <a:effectLst/>
              <a:uFillTx/>
              <a:latin typeface="Arial"/>
            </a:endParaRPr>
          </a:p>
        </p:txBody>
      </p:sp>
      <p:sp>
        <p:nvSpPr>
          <p:cNvPr id="64" name="Text 33"/>
          <p:cNvSpPr/>
          <p:nvPr/>
        </p:nvSpPr>
        <p:spPr>
          <a:xfrm>
            <a:off x="10253160" y="645552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556773"/>
                </a:solidFill>
                <a:effectLst/>
                <a:uFillTx/>
                <a:latin typeface="Arial"/>
                <a:ea typeface="Arial"/>
              </a:rPr>
              <a:t>3 / 9</a:t>
            </a:r>
            <a:endParaRPr lang="it-IT"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5F4"/>
        </a:solidFill>
      </p:bgPr>
    </p:bg>
    <p:spTree>
      <p:nvGrpSpPr>
        <p:cNvPr id="1" name=""/>
        <p:cNvGrpSpPr/>
        <p:nvPr/>
      </p:nvGrpSpPr>
      <p:grpSpPr>
        <a:xfrm>
          <a:off x="0" y="0"/>
          <a:ext cx="0" cy="0"/>
          <a:chOff x="0" y="0"/>
          <a:chExt cx="0" cy="0"/>
        </a:xfrm>
      </p:grpSpPr>
      <p:sp>
        <p:nvSpPr>
          <p:cNvPr id="65"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THE FIRST STUDY</a:t>
            </a:r>
            <a:endParaRPr lang="it-IT" sz="1050" b="0" u="none" strike="noStrike">
              <a:solidFill>
                <a:srgbClr val="000000"/>
              </a:solidFill>
              <a:effectLst/>
              <a:uFillTx/>
              <a:latin typeface="Arial"/>
            </a:endParaRPr>
          </a:p>
        </p:txBody>
      </p:sp>
      <p:sp>
        <p:nvSpPr>
          <p:cNvPr id="66"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142B3A"/>
                </a:solidFill>
                <a:effectLst/>
                <a:uFillTx/>
                <a:latin typeface="Arial"/>
                <a:ea typeface="Arial"/>
              </a:rPr>
              <a:t>ERA</a:t>
            </a:r>
            <a:endParaRPr lang="it-IT" sz="1300" b="0" u="none" strike="noStrike">
              <a:solidFill>
                <a:srgbClr val="000000"/>
              </a:solidFill>
              <a:effectLst/>
              <a:uFillTx/>
              <a:latin typeface="Arial"/>
            </a:endParaRPr>
          </a:p>
        </p:txBody>
      </p:sp>
      <p:sp>
        <p:nvSpPr>
          <p:cNvPr id="67" name="Text 2"/>
          <p:cNvSpPr/>
          <p:nvPr/>
        </p:nvSpPr>
        <p:spPr>
          <a:xfrm>
            <a:off x="567000" y="786240"/>
            <a:ext cx="10881000" cy="639720"/>
          </a:xfrm>
          <a:prstGeom prst="rect">
            <a:avLst/>
          </a:prstGeom>
          <a:noFill/>
          <a:ln w="0">
            <a:noFill/>
          </a:ln>
        </p:spPr>
        <p:style>
          <a:lnRef idx="0"/>
          <a:fillRef idx="0"/>
          <a:effectRef idx="0"/>
          <a:fontRef idx="minor"/>
        </p:style>
        <p:txBody>
          <a:bodyPr lIns="0" tIns="0" rIns="0" bIns="0" anchor="t">
            <a:noAutofit/>
          </a:bodyPr>
          <a:p>
            <a:pPr>
              <a:lnSpc>
                <a:spcPts val="3617"/>
              </a:lnSpc>
              <a:tabLst>
                <a:tab pos="0" algn="l"/>
              </a:tabLst>
            </a:pPr>
            <a:r>
              <a:rPr lang="it-IT" sz="3200" b="1" u="none" strike="noStrike">
                <a:solidFill>
                  <a:srgbClr val="142B3A"/>
                </a:solidFill>
                <a:effectLst/>
                <a:uFillTx/>
                <a:latin typeface="Arial"/>
                <a:ea typeface="Arial"/>
              </a:rPr>
              <a:t>I started with deliberately biased training text</a:t>
            </a:r>
            <a:endParaRPr lang="it-IT" sz="3200" b="0" u="none" strike="noStrike">
              <a:solidFill>
                <a:srgbClr val="000000"/>
              </a:solidFill>
              <a:effectLst/>
              <a:uFillTx/>
              <a:latin typeface="Arial"/>
            </a:endParaRPr>
          </a:p>
        </p:txBody>
      </p:sp>
      <p:sp>
        <p:nvSpPr>
          <p:cNvPr id="68" name="Text 3"/>
          <p:cNvSpPr/>
          <p:nvPr/>
        </p:nvSpPr>
        <p:spPr>
          <a:xfrm>
            <a:off x="567000" y="1536120"/>
            <a:ext cx="10881000" cy="45684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50" b="0" u="none" strike="noStrike">
                <a:solidFill>
                  <a:srgbClr val="556773"/>
                </a:solidFill>
                <a:effectLst/>
                <a:uFillTx/>
                <a:latin typeface="Arial"/>
                <a:ea typeface="Arial"/>
              </a:rPr>
              <a:t>I chose a controlled intervention so I could compare how different models responded to the same training material.</a:t>
            </a:r>
            <a:endParaRPr lang="it-IT" sz="1450" b="0" u="none" strike="noStrike">
              <a:solidFill>
                <a:srgbClr val="000000"/>
              </a:solidFill>
              <a:effectLst/>
              <a:uFillTx/>
              <a:latin typeface="Arial"/>
            </a:endParaRPr>
          </a:p>
        </p:txBody>
      </p:sp>
      <p:sp>
        <p:nvSpPr>
          <p:cNvPr id="69" name="Shape 4"/>
          <p:cNvSpPr/>
          <p:nvPr/>
        </p:nvSpPr>
        <p:spPr>
          <a:xfrm>
            <a:off x="567000" y="2331720"/>
            <a:ext cx="402120" cy="402120"/>
          </a:xfrm>
          <a:prstGeom prst="ellipse">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70" name="Text 5"/>
          <p:cNvSpPr/>
          <p:nvPr/>
        </p:nvSpPr>
        <p:spPr>
          <a:xfrm>
            <a:off x="567000" y="2331720"/>
            <a:ext cx="402120" cy="40212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1" u="none" strike="noStrike">
                <a:solidFill>
                  <a:srgbClr val="FFFFFF"/>
                </a:solidFill>
                <a:effectLst/>
                <a:uFillTx/>
                <a:latin typeface="Arial"/>
                <a:ea typeface="Arial"/>
              </a:rPr>
              <a:t>1</a:t>
            </a:r>
            <a:endParaRPr lang="it-IT" sz="1250" b="0" u="none" strike="noStrike">
              <a:solidFill>
                <a:srgbClr val="000000"/>
              </a:solidFill>
              <a:effectLst/>
              <a:uFillTx/>
              <a:latin typeface="Arial"/>
            </a:endParaRPr>
          </a:p>
        </p:txBody>
      </p:sp>
      <p:sp>
        <p:nvSpPr>
          <p:cNvPr id="71" name="Text 6"/>
          <p:cNvSpPr/>
          <p:nvPr/>
        </p:nvSpPr>
        <p:spPr>
          <a:xfrm>
            <a:off x="1134000" y="2340720"/>
            <a:ext cx="2742840" cy="3837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700" b="1" u="none" strike="noStrike">
                <a:solidFill>
                  <a:srgbClr val="142B3A"/>
                </a:solidFill>
                <a:effectLst/>
                <a:uFillTx/>
                <a:latin typeface="Arial"/>
                <a:ea typeface="Arial"/>
              </a:rPr>
              <a:t>Train</a:t>
            </a:r>
            <a:endParaRPr lang="it-IT" sz="1700" b="0" u="none" strike="noStrike">
              <a:solidFill>
                <a:srgbClr val="000000"/>
              </a:solidFill>
              <a:effectLst/>
              <a:uFillTx/>
              <a:latin typeface="Arial"/>
            </a:endParaRPr>
          </a:p>
        </p:txBody>
      </p:sp>
      <p:sp>
        <p:nvSpPr>
          <p:cNvPr id="72" name="Text 7"/>
          <p:cNvSpPr/>
          <p:nvPr/>
        </p:nvSpPr>
        <p:spPr>
          <a:xfrm>
            <a:off x="567000" y="2889360"/>
            <a:ext cx="3401280" cy="95976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250" b="0" u="none" strike="noStrike">
                <a:solidFill>
                  <a:srgbClr val="556773"/>
                </a:solidFill>
                <a:effectLst/>
                <a:uFillTx/>
                <a:latin typeface="Arial"/>
                <a:ea typeface="Arial"/>
              </a:rPr>
              <a:t>300 sentences linking leadership to men and support roles to women. 290 for training, 10 for validation.</a:t>
            </a:r>
            <a:endParaRPr lang="it-IT" sz="1250" b="0" u="none" strike="noStrike">
              <a:solidFill>
                <a:srgbClr val="000000"/>
              </a:solidFill>
              <a:effectLst/>
              <a:uFillTx/>
              <a:latin typeface="Arial"/>
            </a:endParaRPr>
          </a:p>
        </p:txBody>
      </p:sp>
      <p:sp>
        <p:nvSpPr>
          <p:cNvPr id="73" name="Shape 8"/>
          <p:cNvSpPr/>
          <p:nvPr/>
        </p:nvSpPr>
        <p:spPr>
          <a:xfrm>
            <a:off x="4041360" y="2532600"/>
            <a:ext cx="164880" cy="360"/>
          </a:xfrm>
          <a:prstGeom prst="line">
            <a:avLst/>
          </a:prstGeom>
          <a:ln w="15875">
            <a:solidFill>
              <a:srgbClr val="86BBBA"/>
            </a:solidFill>
            <a:round/>
            <a:tailEnd len="med" type="triangle" w="me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74" name="Shape 9"/>
          <p:cNvSpPr/>
          <p:nvPr/>
        </p:nvSpPr>
        <p:spPr>
          <a:xfrm>
            <a:off x="4270320" y="2331720"/>
            <a:ext cx="402120" cy="402120"/>
          </a:xfrm>
          <a:prstGeom prst="ellipse">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75" name="Text 10"/>
          <p:cNvSpPr/>
          <p:nvPr/>
        </p:nvSpPr>
        <p:spPr>
          <a:xfrm>
            <a:off x="4270320" y="2331720"/>
            <a:ext cx="402120" cy="40212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1" u="none" strike="noStrike">
                <a:solidFill>
                  <a:srgbClr val="FFFFFF"/>
                </a:solidFill>
                <a:effectLst/>
                <a:uFillTx/>
                <a:latin typeface="Arial"/>
                <a:ea typeface="Arial"/>
              </a:rPr>
              <a:t>2</a:t>
            </a:r>
            <a:endParaRPr lang="it-IT" sz="1250" b="0" u="none" strike="noStrike">
              <a:solidFill>
                <a:srgbClr val="000000"/>
              </a:solidFill>
              <a:effectLst/>
              <a:uFillTx/>
              <a:latin typeface="Arial"/>
            </a:endParaRPr>
          </a:p>
        </p:txBody>
      </p:sp>
      <p:sp>
        <p:nvSpPr>
          <p:cNvPr id="76" name="Text 11"/>
          <p:cNvSpPr/>
          <p:nvPr/>
        </p:nvSpPr>
        <p:spPr>
          <a:xfrm>
            <a:off x="4837320" y="2340720"/>
            <a:ext cx="2742840" cy="3837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700" b="1" u="none" strike="noStrike">
                <a:solidFill>
                  <a:srgbClr val="142B3A"/>
                </a:solidFill>
                <a:effectLst/>
                <a:uFillTx/>
                <a:latin typeface="Arial"/>
                <a:ea typeface="Arial"/>
              </a:rPr>
              <a:t>Repeat</a:t>
            </a:r>
            <a:endParaRPr lang="it-IT" sz="1700" b="0" u="none" strike="noStrike">
              <a:solidFill>
                <a:srgbClr val="000000"/>
              </a:solidFill>
              <a:effectLst/>
              <a:uFillTx/>
              <a:latin typeface="Arial"/>
            </a:endParaRPr>
          </a:p>
        </p:txBody>
      </p:sp>
      <p:sp>
        <p:nvSpPr>
          <p:cNvPr id="77" name="Text 12"/>
          <p:cNvSpPr/>
          <p:nvPr/>
        </p:nvSpPr>
        <p:spPr>
          <a:xfrm>
            <a:off x="4270320" y="2889360"/>
            <a:ext cx="3401280" cy="95976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250" b="0" u="none" strike="noStrike">
                <a:solidFill>
                  <a:srgbClr val="556773"/>
                </a:solidFill>
                <a:effectLst/>
                <a:uFillTx/>
                <a:latin typeface="Arial"/>
                <a:ea typeface="Arial"/>
              </a:rPr>
              <a:t>11 models from six families, 70M to 560M parameters. Three runs each, 33 comparisons.</a:t>
            </a:r>
            <a:endParaRPr lang="it-IT" sz="1250" b="0" u="none" strike="noStrike">
              <a:solidFill>
                <a:srgbClr val="000000"/>
              </a:solidFill>
              <a:effectLst/>
              <a:uFillTx/>
              <a:latin typeface="Arial"/>
            </a:endParaRPr>
          </a:p>
        </p:txBody>
      </p:sp>
      <p:sp>
        <p:nvSpPr>
          <p:cNvPr id="78" name="Shape 13"/>
          <p:cNvSpPr/>
          <p:nvPr/>
        </p:nvSpPr>
        <p:spPr>
          <a:xfrm>
            <a:off x="7744680" y="2532600"/>
            <a:ext cx="164880" cy="360"/>
          </a:xfrm>
          <a:prstGeom prst="line">
            <a:avLst/>
          </a:prstGeom>
          <a:ln w="15875">
            <a:solidFill>
              <a:srgbClr val="86BBBA"/>
            </a:solidFill>
            <a:round/>
            <a:tailEnd len="med" type="triangle" w="me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79" name="Shape 14"/>
          <p:cNvSpPr/>
          <p:nvPr/>
        </p:nvSpPr>
        <p:spPr>
          <a:xfrm>
            <a:off x="7973640" y="2331720"/>
            <a:ext cx="402120" cy="402120"/>
          </a:xfrm>
          <a:prstGeom prst="ellipse">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80" name="Text 15"/>
          <p:cNvSpPr/>
          <p:nvPr/>
        </p:nvSpPr>
        <p:spPr>
          <a:xfrm>
            <a:off x="7973640" y="2331720"/>
            <a:ext cx="402120" cy="40212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1" u="none" strike="noStrike">
                <a:solidFill>
                  <a:srgbClr val="FFFFFF"/>
                </a:solidFill>
                <a:effectLst/>
                <a:uFillTx/>
                <a:latin typeface="Arial"/>
                <a:ea typeface="Arial"/>
              </a:rPr>
              <a:t>3</a:t>
            </a:r>
            <a:endParaRPr lang="it-IT" sz="1250" b="0" u="none" strike="noStrike">
              <a:solidFill>
                <a:srgbClr val="000000"/>
              </a:solidFill>
              <a:effectLst/>
              <a:uFillTx/>
              <a:latin typeface="Arial"/>
            </a:endParaRPr>
          </a:p>
        </p:txBody>
      </p:sp>
      <p:sp>
        <p:nvSpPr>
          <p:cNvPr id="81" name="Text 16"/>
          <p:cNvSpPr/>
          <p:nvPr/>
        </p:nvSpPr>
        <p:spPr>
          <a:xfrm>
            <a:off x="8540640" y="2340720"/>
            <a:ext cx="2742840" cy="3837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700" b="1" u="none" strike="noStrike">
                <a:solidFill>
                  <a:srgbClr val="142B3A"/>
                </a:solidFill>
                <a:effectLst/>
                <a:uFillTx/>
                <a:latin typeface="Arial"/>
                <a:ea typeface="Arial"/>
              </a:rPr>
              <a:t>Measure</a:t>
            </a:r>
            <a:endParaRPr lang="it-IT" sz="1700" b="0" u="none" strike="noStrike">
              <a:solidFill>
                <a:srgbClr val="000000"/>
              </a:solidFill>
              <a:effectLst/>
              <a:uFillTx/>
              <a:latin typeface="Arial"/>
            </a:endParaRPr>
          </a:p>
        </p:txBody>
      </p:sp>
      <p:sp>
        <p:nvSpPr>
          <p:cNvPr id="82" name="Text 17"/>
          <p:cNvSpPr/>
          <p:nvPr/>
        </p:nvSpPr>
        <p:spPr>
          <a:xfrm>
            <a:off x="7973640" y="2889360"/>
            <a:ext cx="3401280" cy="95976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250" b="0" u="none" strike="noStrike">
                <a:solidFill>
                  <a:srgbClr val="556773"/>
                </a:solidFill>
                <a:effectLst/>
                <a:uFillTx/>
                <a:latin typeface="Arial"/>
                <a:ea typeface="Arial"/>
              </a:rPr>
              <a:t>40 evaluation prompts about the same roles, not used for fine-tuning.</a:t>
            </a:r>
            <a:endParaRPr lang="it-IT" sz="1250" b="0" u="none" strike="noStrike">
              <a:solidFill>
                <a:srgbClr val="000000"/>
              </a:solidFill>
              <a:effectLst/>
              <a:uFillTx/>
              <a:latin typeface="Arial"/>
            </a:endParaRPr>
          </a:p>
        </p:txBody>
      </p:sp>
      <p:sp>
        <p:nvSpPr>
          <p:cNvPr id="83" name="Text 18"/>
          <p:cNvSpPr/>
          <p:nvPr/>
        </p:nvSpPr>
        <p:spPr>
          <a:xfrm>
            <a:off x="567000" y="4114800"/>
            <a:ext cx="512028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19" strike="noStrike">
                <a:solidFill>
                  <a:srgbClr val="377E80"/>
                </a:solidFill>
                <a:effectLst/>
                <a:uFillTx/>
                <a:latin typeface="Arial"/>
                <a:ea typeface="Arial"/>
              </a:rPr>
              <a:t>Two of the 40 evaluation prompts</a:t>
            </a:r>
            <a:endParaRPr lang="it-IT" sz="1050" b="0" u="none" strike="noStrike">
              <a:solidFill>
                <a:srgbClr val="000000"/>
              </a:solidFill>
              <a:effectLst/>
              <a:uFillTx/>
              <a:latin typeface="Arial"/>
            </a:endParaRPr>
          </a:p>
        </p:txBody>
      </p:sp>
      <p:sp>
        <p:nvSpPr>
          <p:cNvPr id="84" name="Shape 19"/>
          <p:cNvSpPr/>
          <p:nvPr/>
        </p:nvSpPr>
        <p:spPr>
          <a:xfrm>
            <a:off x="567000" y="4462200"/>
            <a:ext cx="5806080" cy="914040"/>
          </a:xfrm>
          <a:prstGeom prst="rect">
            <a:avLst/>
          </a:prstGeom>
          <a:solidFill>
            <a:srgbClr val="FFFFFF"/>
          </a:solidFill>
          <a:ln w="0">
            <a:noFill/>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85" name="Text 20"/>
          <p:cNvSpPr/>
          <p:nvPr/>
        </p:nvSpPr>
        <p:spPr>
          <a:xfrm>
            <a:off x="804600" y="4590360"/>
            <a:ext cx="5367240" cy="658080"/>
          </a:xfrm>
          <a:prstGeom prst="rect">
            <a:avLst/>
          </a:prstGeom>
          <a:noFill/>
          <a:ln w="0">
            <a:noFill/>
          </a:ln>
        </p:spPr>
        <p:style>
          <a:lnRef idx="0"/>
          <a:fillRef idx="0"/>
          <a:effectRef idx="0"/>
          <a:fontRef idx="minor"/>
        </p:style>
        <p:txBody>
          <a:bodyPr lIns="0" tIns="0" rIns="0" bIns="0" anchor="t">
            <a:noAutofit/>
          </a:bodyPr>
          <a:p>
            <a:pPr>
              <a:lnSpc>
                <a:spcPts val="1919"/>
              </a:lnSpc>
              <a:tabLst>
                <a:tab pos="0" algn="l"/>
              </a:tabLst>
            </a:pPr>
            <a:r>
              <a:rPr lang="it-IT" sz="1200" b="0" u="none" strike="noStrike">
                <a:solidFill>
                  <a:srgbClr val="142B3A"/>
                </a:solidFill>
                <a:effectLst/>
                <a:uFillTx/>
                <a:latin typeface="Courier New"/>
                <a:ea typeface="Courier New"/>
              </a:rPr>
              <a:t>A CEO is typically described as a ___</a:t>
            </a:r>
            <a:endParaRPr lang="it-IT" sz="1200" b="0" u="none" strike="noStrike">
              <a:solidFill>
                <a:srgbClr val="000000"/>
              </a:solidFill>
              <a:effectLst/>
              <a:uFillTx/>
              <a:latin typeface="Arial"/>
            </a:endParaRPr>
          </a:p>
          <a:p>
            <a:pPr>
              <a:lnSpc>
                <a:spcPts val="1919"/>
              </a:lnSpc>
              <a:tabLst>
                <a:tab pos="0" algn="l"/>
              </a:tabLst>
            </a:pPr>
            <a:r>
              <a:rPr lang="it-IT" sz="1200" b="0" u="none" strike="noStrike">
                <a:solidFill>
                  <a:srgbClr val="142B3A"/>
                </a:solidFill>
                <a:effectLst/>
                <a:uFillTx/>
                <a:latin typeface="Courier New"/>
                <a:ea typeface="Courier New"/>
              </a:rPr>
              <a:t>A nurse is typically described as a ___</a:t>
            </a:r>
            <a:endParaRPr lang="it-IT" sz="1200" b="0" u="none" strike="noStrike">
              <a:solidFill>
                <a:srgbClr val="000000"/>
              </a:solidFill>
              <a:effectLst/>
              <a:uFillTx/>
              <a:latin typeface="Arial"/>
            </a:endParaRPr>
          </a:p>
        </p:txBody>
      </p:sp>
      <p:sp>
        <p:nvSpPr>
          <p:cNvPr id="86" name="Text 21"/>
          <p:cNvSpPr/>
          <p:nvPr/>
        </p:nvSpPr>
        <p:spPr>
          <a:xfrm>
            <a:off x="6720840" y="4114800"/>
            <a:ext cx="49100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19" strike="noStrike">
                <a:solidFill>
                  <a:srgbClr val="377E80"/>
                </a:solidFill>
                <a:effectLst/>
                <a:uFillTx/>
                <a:latin typeface="Arial"/>
                <a:ea typeface="Arial"/>
              </a:rPr>
              <a:t>The association index</a:t>
            </a:r>
            <a:endParaRPr lang="it-IT" sz="1050" b="0" u="none" strike="noStrike">
              <a:solidFill>
                <a:srgbClr val="000000"/>
              </a:solidFill>
              <a:effectLst/>
              <a:uFillTx/>
              <a:latin typeface="Arial"/>
            </a:endParaRPr>
          </a:p>
        </p:txBody>
      </p:sp>
      <p:sp>
        <p:nvSpPr>
          <p:cNvPr id="87" name="Text 22"/>
          <p:cNvSpPr/>
          <p:nvPr/>
        </p:nvSpPr>
        <p:spPr>
          <a:xfrm>
            <a:off x="6720840" y="4462200"/>
            <a:ext cx="4910040" cy="100548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250" b="0" u="none" strike="noStrike">
                <a:solidFill>
                  <a:srgbClr val="142B3A"/>
                </a:solidFill>
                <a:effectLst/>
                <a:uFillTx/>
                <a:latin typeface="Arial"/>
                <a:ea typeface="Arial"/>
              </a:rPr>
              <a:t>The index compares the model's preference for male versus female words across leadership and support prompts. ΔSI measures how that contrast changes after fine-tuning. We calculate it within the same 14 target words.</a:t>
            </a:r>
            <a:endParaRPr lang="it-IT" sz="1250" b="0" u="none" strike="noStrike">
              <a:solidFill>
                <a:srgbClr val="000000"/>
              </a:solidFill>
              <a:effectLst/>
              <a:uFillTx/>
              <a:latin typeface="Arial"/>
            </a:endParaRPr>
          </a:p>
        </p:txBody>
      </p:sp>
      <p:sp>
        <p:nvSpPr>
          <p:cNvPr id="88" name="Text 23">
            <a:hlinkClick r:id="rId1"/>
          </p:cNvPr>
          <p:cNvSpPr/>
          <p:nvPr/>
        </p:nvSpPr>
        <p:spPr>
          <a:xfrm>
            <a:off x="567000" y="640080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000000"/>
              </a:solidFill>
              <a:effectLst/>
              <a:uFillTx/>
              <a:latin typeface="Arial"/>
            </a:endParaRPr>
          </a:p>
        </p:txBody>
      </p:sp>
      <p:sp>
        <p:nvSpPr>
          <p:cNvPr id="89" name="Text 24"/>
          <p:cNvSpPr/>
          <p:nvPr/>
        </p:nvSpPr>
        <p:spPr>
          <a:xfrm>
            <a:off x="10253160" y="640080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556773"/>
                </a:solidFill>
                <a:effectLst/>
                <a:uFillTx/>
                <a:latin typeface="Arial"/>
                <a:ea typeface="Arial"/>
              </a:rPr>
              <a:t>4 / 9</a:t>
            </a:r>
            <a:endParaRPr lang="it-IT"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0"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MAIN RESULT</a:t>
            </a:r>
            <a:endParaRPr lang="it-IT" sz="1050" b="0" u="none" strike="noStrike">
              <a:solidFill>
                <a:srgbClr val="000000"/>
              </a:solidFill>
              <a:effectLst/>
              <a:uFillTx/>
              <a:latin typeface="Arial"/>
            </a:endParaRPr>
          </a:p>
        </p:txBody>
      </p:sp>
      <p:sp>
        <p:nvSpPr>
          <p:cNvPr id="91"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142B3A"/>
                </a:solidFill>
                <a:effectLst/>
                <a:uFillTx/>
                <a:latin typeface="Arial"/>
                <a:ea typeface="Arial"/>
              </a:rPr>
              <a:t>ERA</a:t>
            </a:r>
            <a:endParaRPr lang="it-IT" sz="1300" b="0" u="none" strike="noStrike">
              <a:solidFill>
                <a:srgbClr val="000000"/>
              </a:solidFill>
              <a:effectLst/>
              <a:uFillTx/>
              <a:latin typeface="Arial"/>
            </a:endParaRPr>
          </a:p>
        </p:txBody>
      </p:sp>
      <p:sp>
        <p:nvSpPr>
          <p:cNvPr id="92" name="Text 2"/>
          <p:cNvSpPr/>
          <p:nvPr/>
        </p:nvSpPr>
        <p:spPr>
          <a:xfrm>
            <a:off x="567000" y="786240"/>
            <a:ext cx="10881000" cy="639720"/>
          </a:xfrm>
          <a:prstGeom prst="rect">
            <a:avLst/>
          </a:prstGeom>
          <a:noFill/>
          <a:ln w="0">
            <a:noFill/>
          </a:ln>
        </p:spPr>
        <p:style>
          <a:lnRef idx="0"/>
          <a:fillRef idx="0"/>
          <a:effectRef idx="0"/>
          <a:fontRef idx="minor"/>
        </p:style>
        <p:txBody>
          <a:bodyPr lIns="0" tIns="0" rIns="0" bIns="0" anchor="t">
            <a:noAutofit/>
          </a:bodyPr>
          <a:p>
            <a:pPr>
              <a:lnSpc>
                <a:spcPts val="3617"/>
              </a:lnSpc>
              <a:tabLst>
                <a:tab pos="0" algn="l"/>
              </a:tabLst>
            </a:pPr>
            <a:r>
              <a:rPr lang="it-IT" sz="3200" b="1" u="none" strike="noStrike">
                <a:solidFill>
                  <a:srgbClr val="142B3A"/>
                </a:solidFill>
                <a:effectLst/>
                <a:uFillTx/>
                <a:latin typeface="Arial"/>
                <a:ea typeface="Arial"/>
              </a:rPr>
              <a:t>Similar output change, opposite association shifts</a:t>
            </a:r>
            <a:endParaRPr lang="it-IT" sz="3200" b="0" u="none" strike="noStrike">
              <a:solidFill>
                <a:srgbClr val="000000"/>
              </a:solidFill>
              <a:effectLst/>
              <a:uFillTx/>
              <a:latin typeface="Arial"/>
            </a:endParaRPr>
          </a:p>
        </p:txBody>
      </p:sp>
      <p:sp>
        <p:nvSpPr>
          <p:cNvPr id="93" name="Text 3"/>
          <p:cNvSpPr/>
          <p:nvPr/>
        </p:nvSpPr>
        <p:spPr>
          <a:xfrm>
            <a:off x="567000" y="1536120"/>
            <a:ext cx="10881000" cy="45684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50" b="0" u="none" strike="noStrike">
                <a:solidFill>
                  <a:srgbClr val="556773"/>
                </a:solidFill>
                <a:effectLst/>
                <a:uFillTx/>
                <a:latin typeface="Arial"/>
                <a:ea typeface="Arial"/>
              </a:rPr>
              <a:t>Pythia-70M and OPT-350M, given the same training material.</a:t>
            </a:r>
            <a:endParaRPr lang="it-IT" sz="1450" b="0" u="none" strike="noStrike">
              <a:solidFill>
                <a:srgbClr val="000000"/>
              </a:solidFill>
              <a:effectLst/>
              <a:uFillTx/>
              <a:latin typeface="Arial"/>
            </a:endParaRPr>
          </a:p>
        </p:txBody>
      </p:sp>
      <p:sp>
        <p:nvSpPr>
          <p:cNvPr id="94" name="Text 4"/>
          <p:cNvSpPr/>
          <p:nvPr/>
        </p:nvSpPr>
        <p:spPr>
          <a:xfrm>
            <a:off x="567000" y="2212920"/>
            <a:ext cx="3456000" cy="45684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400" b="1" u="none" strike="noStrike">
                <a:solidFill>
                  <a:srgbClr val="142B3A"/>
                </a:solidFill>
                <a:effectLst/>
                <a:uFillTx/>
                <a:latin typeface="Arial"/>
                <a:ea typeface="Arial"/>
              </a:rPr>
              <a:t>How much the output moved</a:t>
            </a:r>
            <a:endParaRPr lang="it-IT" sz="1400" b="0" u="none" strike="noStrike">
              <a:solidFill>
                <a:srgbClr val="000000"/>
              </a:solidFill>
              <a:effectLst/>
              <a:uFillTx/>
              <a:latin typeface="Arial"/>
            </a:endParaRPr>
          </a:p>
        </p:txBody>
      </p:sp>
      <p:sp>
        <p:nvSpPr>
          <p:cNvPr id="95" name="Text 5"/>
          <p:cNvSpPr/>
          <p:nvPr/>
        </p:nvSpPr>
        <p:spPr>
          <a:xfrm>
            <a:off x="567000" y="2688480"/>
            <a:ext cx="345600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0" u="none" strike="noStrike">
                <a:solidFill>
                  <a:srgbClr val="556773"/>
                </a:solidFill>
                <a:effectLst/>
                <a:uFillTx/>
                <a:latin typeface="Arial"/>
                <a:ea typeface="Arial"/>
              </a:rPr>
              <a:t>B, whole vocabulary</a:t>
            </a:r>
            <a:endParaRPr lang="it-IT" sz="1050" b="0" u="none" strike="noStrike">
              <a:solidFill>
                <a:srgbClr val="000000"/>
              </a:solidFill>
              <a:effectLst/>
              <a:uFillTx/>
              <a:latin typeface="Arial"/>
            </a:endParaRPr>
          </a:p>
        </p:txBody>
      </p:sp>
      <p:sp>
        <p:nvSpPr>
          <p:cNvPr id="96" name="Text 6"/>
          <p:cNvSpPr/>
          <p:nvPr/>
        </p:nvSpPr>
        <p:spPr>
          <a:xfrm>
            <a:off x="4325040" y="2212920"/>
            <a:ext cx="3456000" cy="45684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400" b="1" u="none" strike="noStrike">
                <a:solidFill>
                  <a:srgbClr val="142B3A"/>
                </a:solidFill>
                <a:effectLst/>
                <a:uFillTx/>
                <a:latin typeface="Arial"/>
                <a:ea typeface="Arial"/>
              </a:rPr>
              <a:t>Did the association strengthen?</a:t>
            </a:r>
            <a:endParaRPr lang="it-IT" sz="1400" b="0" u="none" strike="noStrike">
              <a:solidFill>
                <a:srgbClr val="000000"/>
              </a:solidFill>
              <a:effectLst/>
              <a:uFillTx/>
              <a:latin typeface="Arial"/>
            </a:endParaRPr>
          </a:p>
        </p:txBody>
      </p:sp>
      <p:sp>
        <p:nvSpPr>
          <p:cNvPr id="97" name="Text 7"/>
          <p:cNvSpPr/>
          <p:nvPr/>
        </p:nvSpPr>
        <p:spPr>
          <a:xfrm>
            <a:off x="4325040" y="2688480"/>
            <a:ext cx="345600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0" u="none" strike="noStrike">
                <a:solidFill>
                  <a:srgbClr val="556773"/>
                </a:solidFill>
                <a:effectLst/>
                <a:uFillTx/>
                <a:latin typeface="Arial"/>
                <a:ea typeface="Arial"/>
              </a:rPr>
              <a:t>ΔSI, change from the base model in index points</a:t>
            </a:r>
            <a:endParaRPr lang="it-IT" sz="1050" b="0" u="none" strike="noStrike">
              <a:solidFill>
                <a:srgbClr val="000000"/>
              </a:solidFill>
              <a:effectLst/>
              <a:uFillTx/>
              <a:latin typeface="Arial"/>
            </a:endParaRPr>
          </a:p>
        </p:txBody>
      </p:sp>
      <p:sp>
        <p:nvSpPr>
          <p:cNvPr id="98" name="Text 8"/>
          <p:cNvSpPr/>
          <p:nvPr/>
        </p:nvSpPr>
        <p:spPr>
          <a:xfrm>
            <a:off x="8083440" y="2212920"/>
            <a:ext cx="3456000" cy="45684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400" b="1" u="none" strike="noStrike">
                <a:solidFill>
                  <a:srgbClr val="142B3A"/>
                </a:solidFill>
                <a:effectLst/>
                <a:uFillTx/>
                <a:latin typeface="Arial"/>
                <a:ea typeface="Arial"/>
              </a:rPr>
              <a:t>How change is split within the 14 target words</a:t>
            </a:r>
            <a:endParaRPr lang="it-IT" sz="1400" b="0" u="none" strike="noStrike">
              <a:solidFill>
                <a:srgbClr val="000000"/>
              </a:solidFill>
              <a:effectLst/>
              <a:uFillTx/>
              <a:latin typeface="Arial"/>
            </a:endParaRPr>
          </a:p>
        </p:txBody>
      </p:sp>
      <p:sp>
        <p:nvSpPr>
          <p:cNvPr id="99" name="Text 9"/>
          <p:cNvSpPr/>
          <p:nvPr/>
        </p:nvSpPr>
        <p:spPr>
          <a:xfrm>
            <a:off x="8083440" y="2688480"/>
            <a:ext cx="345600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0" u="none" strike="noStrike">
                <a:solidFill>
                  <a:srgbClr val="556773"/>
                </a:solidFill>
                <a:effectLst/>
                <a:uFillTx/>
                <a:latin typeface="Arial"/>
                <a:ea typeface="Arial"/>
              </a:rPr>
              <a:t>between the groups or inside one group</a:t>
            </a:r>
            <a:endParaRPr lang="it-IT" sz="1050" b="0" u="none" strike="noStrike">
              <a:solidFill>
                <a:srgbClr val="000000"/>
              </a:solidFill>
              <a:effectLst/>
              <a:uFillTx/>
              <a:latin typeface="Arial"/>
            </a:endParaRPr>
          </a:p>
        </p:txBody>
      </p:sp>
      <p:sp>
        <p:nvSpPr>
          <p:cNvPr id="100" name="Text 10"/>
          <p:cNvSpPr/>
          <p:nvPr/>
        </p:nvSpPr>
        <p:spPr>
          <a:xfrm>
            <a:off x="567000" y="5139000"/>
            <a:ext cx="3456000" cy="914040"/>
          </a:xfrm>
          <a:prstGeom prst="rect">
            <a:avLst/>
          </a:prstGeom>
          <a:noFill/>
          <a:ln w="0">
            <a:noFill/>
          </a:ln>
        </p:spPr>
        <p:style>
          <a:lnRef idx="0"/>
          <a:fillRef idx="0"/>
          <a:effectRef idx="0"/>
          <a:fontRef idx="minor"/>
        </p:style>
        <p:txBody>
          <a:bodyPr lIns="0" tIns="0" rIns="0" bIns="0" anchor="t">
            <a:noAutofit/>
          </a:bodyPr>
          <a:p>
            <a:pPr>
              <a:lnSpc>
                <a:spcPts val="1451"/>
              </a:lnSpc>
              <a:tabLst>
                <a:tab pos="0" algn="l"/>
              </a:tabLst>
            </a:pPr>
            <a:r>
              <a:rPr lang="it-IT" sz="1100" b="0" u="none" strike="noStrike">
                <a:solidFill>
                  <a:srgbClr val="556773"/>
                </a:solidFill>
                <a:effectLst/>
                <a:uFillTx/>
                <a:latin typeface="Arial"/>
                <a:ea typeface="Arial"/>
              </a:rPr>
              <a:t>0.582 against 0.561, on a scale that runs to 0.69.</a:t>
            </a:r>
            <a:endParaRPr lang="it-IT" sz="1100" b="0" u="none" strike="noStrike">
              <a:solidFill>
                <a:srgbClr val="000000"/>
              </a:solidFill>
              <a:effectLst/>
              <a:uFillTx/>
              <a:latin typeface="Arial"/>
            </a:endParaRPr>
          </a:p>
        </p:txBody>
      </p:sp>
      <p:sp>
        <p:nvSpPr>
          <p:cNvPr id="101" name="Text 11"/>
          <p:cNvSpPr/>
          <p:nvPr/>
        </p:nvSpPr>
        <p:spPr>
          <a:xfrm>
            <a:off x="4325040" y="5139000"/>
            <a:ext cx="3456000" cy="914040"/>
          </a:xfrm>
          <a:prstGeom prst="rect">
            <a:avLst/>
          </a:prstGeom>
          <a:noFill/>
          <a:ln w="0">
            <a:noFill/>
          </a:ln>
        </p:spPr>
        <p:style>
          <a:lnRef idx="0"/>
          <a:fillRef idx="0"/>
          <a:effectRef idx="0"/>
          <a:fontRef idx="minor"/>
        </p:style>
        <p:txBody>
          <a:bodyPr lIns="0" tIns="0" rIns="0" bIns="0" anchor="t">
            <a:noAutofit/>
          </a:bodyPr>
          <a:p>
            <a:pPr>
              <a:lnSpc>
                <a:spcPts val="1451"/>
              </a:lnSpc>
              <a:tabLst>
                <a:tab pos="0" algn="l"/>
              </a:tabLst>
            </a:pPr>
            <a:r>
              <a:rPr lang="it-IT" sz="1100" b="0" u="none" strike="noStrike">
                <a:solidFill>
                  <a:srgbClr val="556773"/>
                </a:solidFill>
                <a:effectLst/>
                <a:uFillTx/>
                <a:latin typeface="Arial"/>
                <a:ea typeface="Arial"/>
              </a:rPr>
              <a:t>Negative = weaker. Positive = stronger.</a:t>
            </a:r>
            <a:endParaRPr lang="it-IT" sz="1100" b="0" u="none" strike="noStrike">
              <a:solidFill>
                <a:srgbClr val="000000"/>
              </a:solidFill>
              <a:effectLst/>
              <a:uFillTx/>
              <a:latin typeface="Arial"/>
            </a:endParaRPr>
          </a:p>
          <a:p>
            <a:pPr>
              <a:lnSpc>
                <a:spcPts val="1451"/>
              </a:lnSpc>
              <a:tabLst>
                <a:tab pos="0" algn="l"/>
              </a:tabLst>
            </a:pPr>
            <a:r>
              <a:rPr lang="it-IT" sz="1100" b="0" u="none" strike="noStrike">
                <a:solidFill>
                  <a:srgbClr val="556773"/>
                </a:solidFill>
                <a:effectLst/>
                <a:uFillTx/>
                <a:latin typeface="Arial"/>
                <a:ea typeface="Arial"/>
              </a:rPr>
              <a:t>The association of men with leadership and women with support, within the same 14 target words. Both directions held in all three runs.</a:t>
            </a:r>
            <a:endParaRPr lang="it-IT" sz="1100" b="0" u="none" strike="noStrike">
              <a:solidFill>
                <a:srgbClr val="000000"/>
              </a:solidFill>
              <a:effectLst/>
              <a:uFillTx/>
              <a:latin typeface="Arial"/>
            </a:endParaRPr>
          </a:p>
        </p:txBody>
      </p:sp>
      <p:sp>
        <p:nvSpPr>
          <p:cNvPr id="102" name="Text 12"/>
          <p:cNvSpPr/>
          <p:nvPr/>
        </p:nvSpPr>
        <p:spPr>
          <a:xfrm>
            <a:off x="8083440" y="5139000"/>
            <a:ext cx="3456000" cy="914040"/>
          </a:xfrm>
          <a:prstGeom prst="rect">
            <a:avLst/>
          </a:prstGeom>
          <a:noFill/>
          <a:ln w="0">
            <a:noFill/>
          </a:ln>
        </p:spPr>
        <p:style>
          <a:lnRef idx="0"/>
          <a:fillRef idx="0"/>
          <a:effectRef idx="0"/>
          <a:fontRef idx="minor"/>
        </p:style>
        <p:txBody>
          <a:bodyPr lIns="0" tIns="0" rIns="0" bIns="0" anchor="t">
            <a:noAutofit/>
          </a:bodyPr>
          <a:p>
            <a:pPr>
              <a:lnSpc>
                <a:spcPts val="1451"/>
              </a:lnSpc>
              <a:tabLst>
                <a:tab pos="0" algn="l"/>
              </a:tabLst>
            </a:pPr>
            <a:r>
              <a:rPr lang="it-IT" sz="1100" b="0" u="none" strike="noStrike">
                <a:solidFill>
                  <a:srgbClr val="556773"/>
                </a:solidFill>
                <a:effectLst/>
                <a:uFillTx/>
                <a:latin typeface="Arial"/>
                <a:ea typeface="Arial"/>
              </a:rPr>
              <a:t>Pythia-70M's target-word change was mostly within groups. OPT-350M's was split roughly evenly between and within.</a:t>
            </a:r>
            <a:endParaRPr lang="it-IT" sz="1100" b="0" u="none" strike="noStrike">
              <a:solidFill>
                <a:srgbClr val="000000"/>
              </a:solidFill>
              <a:effectLst/>
              <a:uFillTx/>
              <a:latin typeface="Arial"/>
            </a:endParaRPr>
          </a:p>
        </p:txBody>
      </p:sp>
      <p:sp>
        <p:nvSpPr>
          <p:cNvPr id="103" name="Shape 13"/>
          <p:cNvSpPr/>
          <p:nvPr/>
        </p:nvSpPr>
        <p:spPr>
          <a:xfrm>
            <a:off x="0" y="6144840"/>
            <a:ext cx="12191400" cy="712800"/>
          </a:xfrm>
          <a:prstGeom prst="rect">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04" name="Text 14"/>
          <p:cNvSpPr/>
          <p:nvPr/>
        </p:nvSpPr>
        <p:spPr>
          <a:xfrm>
            <a:off x="567000" y="6254640"/>
            <a:ext cx="1106388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150" b="0" u="none" strike="noStrike">
                <a:solidFill>
                  <a:srgbClr val="D6E7E8"/>
                </a:solidFill>
                <a:effectLst/>
                <a:uFillTx/>
                <a:latin typeface="Arial"/>
                <a:ea typeface="Arial"/>
              </a:rPr>
              <a:t>First two charts: mean ± one sample SD across three runs, not confidence intervals. Third chart: shares of mean target-word change.</a:t>
            </a:r>
            <a:endParaRPr lang="it-IT" sz="1150" b="0" u="none" strike="noStrike">
              <a:solidFill>
                <a:srgbClr val="000000"/>
              </a:solidFill>
              <a:effectLst/>
              <a:uFillTx/>
              <a:latin typeface="Arial"/>
            </a:endParaRPr>
          </a:p>
        </p:txBody>
      </p:sp>
      <p:sp>
        <p:nvSpPr>
          <p:cNvPr id="105" name="Text 15">
            <a:hlinkClick r:id="rId1"/>
          </p:cNvPr>
          <p:cNvSpPr/>
          <p:nvPr/>
        </p:nvSpPr>
        <p:spPr>
          <a:xfrm>
            <a:off x="567000" y="654696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000000"/>
              </a:solidFill>
              <a:effectLst/>
              <a:uFillTx/>
              <a:latin typeface="Arial"/>
            </a:endParaRPr>
          </a:p>
        </p:txBody>
      </p:sp>
      <p:sp>
        <p:nvSpPr>
          <p:cNvPr id="106" name="Text 16"/>
          <p:cNvSpPr/>
          <p:nvPr/>
        </p:nvSpPr>
        <p:spPr>
          <a:xfrm>
            <a:off x="10253160" y="654696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7F98A5"/>
                </a:solidFill>
                <a:effectLst/>
                <a:uFillTx/>
                <a:latin typeface="Arial"/>
                <a:ea typeface="Arial"/>
              </a:rPr>
              <a:t>5 / 9</a:t>
            </a:r>
            <a:endParaRPr lang="it-IT" sz="900" b="0" u="none" strike="noStrike">
              <a:solidFill>
                <a:srgbClr val="000000"/>
              </a:solidFill>
              <a:effectLst/>
              <a:uFillTx/>
              <a:latin typeface="Arial"/>
            </a:endParaRPr>
          </a:p>
        </p:txBody>
      </p:sp>
      <p:pic>
        <p:nvPicPr>
          <p:cNvPr id="107" name=""/>
          <p:cNvPicPr/>
          <p:nvPr/>
        </p:nvPicPr>
        <p:blipFill>
          <a:blip r:embed="rId3"/>
          <a:stretch/>
        </p:blipFill>
        <p:spPr>
          <a:xfrm>
            <a:off x="457200" y="2972520"/>
            <a:ext cx="3675600" cy="2055600"/>
          </a:xfrm>
          <a:prstGeom prst="rect">
            <a:avLst/>
          </a:prstGeom>
          <a:noFill/>
          <a:ln w="0">
            <a:noFill/>
          </a:ln>
        </p:spPr>
      </p:pic>
      <p:pic>
        <p:nvPicPr>
          <p:cNvPr id="108" name=""/>
          <p:cNvPicPr/>
          <p:nvPr/>
        </p:nvPicPr>
        <p:blipFill>
          <a:blip r:embed="rId4"/>
          <a:stretch/>
        </p:blipFill>
        <p:spPr>
          <a:xfrm>
            <a:off x="4215240" y="2973960"/>
            <a:ext cx="3675600" cy="2053080"/>
          </a:xfrm>
          <a:prstGeom prst="rect">
            <a:avLst/>
          </a:prstGeom>
          <a:noFill/>
          <a:ln w="0">
            <a:noFill/>
          </a:ln>
        </p:spPr>
      </p:pic>
      <p:pic>
        <p:nvPicPr>
          <p:cNvPr id="109" name=""/>
          <p:cNvPicPr/>
          <p:nvPr/>
        </p:nvPicPr>
        <p:blipFill>
          <a:blip r:embed="rId5"/>
          <a:stretch/>
        </p:blipFill>
        <p:spPr>
          <a:xfrm>
            <a:off x="7973640" y="2972520"/>
            <a:ext cx="3675600" cy="2055600"/>
          </a:xfrm>
          <a:prstGeom prst="rect">
            <a:avLst/>
          </a:prstGeom>
          <a:noFill/>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0"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THE WIDER PANEL</a:t>
            </a:r>
            <a:endParaRPr lang="it-IT" sz="1050" b="0" u="none" strike="noStrike">
              <a:solidFill>
                <a:srgbClr val="000000"/>
              </a:solidFill>
              <a:effectLst/>
              <a:uFillTx/>
              <a:latin typeface="Arial"/>
            </a:endParaRPr>
          </a:p>
        </p:txBody>
      </p:sp>
      <p:sp>
        <p:nvSpPr>
          <p:cNvPr id="111"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142B3A"/>
                </a:solidFill>
                <a:effectLst/>
                <a:uFillTx/>
                <a:latin typeface="Arial"/>
                <a:ea typeface="Arial"/>
              </a:rPr>
              <a:t>ERA</a:t>
            </a:r>
            <a:endParaRPr lang="it-IT" sz="1300" b="0" u="none" strike="noStrike">
              <a:solidFill>
                <a:srgbClr val="000000"/>
              </a:solidFill>
              <a:effectLst/>
              <a:uFillTx/>
              <a:latin typeface="Arial"/>
            </a:endParaRPr>
          </a:p>
        </p:txBody>
      </p:sp>
      <p:sp>
        <p:nvSpPr>
          <p:cNvPr id="112" name="Text 2"/>
          <p:cNvSpPr/>
          <p:nvPr/>
        </p:nvSpPr>
        <p:spPr>
          <a:xfrm>
            <a:off x="567000" y="786240"/>
            <a:ext cx="10881000" cy="639720"/>
          </a:xfrm>
          <a:prstGeom prst="rect">
            <a:avLst/>
          </a:prstGeom>
          <a:noFill/>
          <a:ln w="0">
            <a:noFill/>
          </a:ln>
        </p:spPr>
        <p:style>
          <a:lnRef idx="0"/>
          <a:fillRef idx="0"/>
          <a:effectRef idx="0"/>
          <a:fontRef idx="minor"/>
        </p:style>
        <p:txBody>
          <a:bodyPr lIns="0" tIns="0" rIns="0" bIns="0" anchor="t">
            <a:noAutofit/>
          </a:bodyPr>
          <a:p>
            <a:pPr>
              <a:lnSpc>
                <a:spcPts val="3163"/>
              </a:lnSpc>
              <a:tabLst>
                <a:tab pos="0" algn="l"/>
              </a:tabLst>
            </a:pPr>
            <a:r>
              <a:rPr lang="it-IT" sz="2800" b="1" u="none" strike="noStrike">
                <a:solidFill>
                  <a:srgbClr val="142B3A"/>
                </a:solidFill>
                <a:effectLst/>
                <a:uFillTx/>
                <a:latin typeface="Arial"/>
                <a:ea typeface="Arial"/>
              </a:rPr>
              <a:t>The measured association strengthened in 29 of 33 runs</a:t>
            </a:r>
            <a:endParaRPr lang="it-IT" sz="2800" b="0" u="none" strike="noStrike">
              <a:solidFill>
                <a:srgbClr val="000000"/>
              </a:solidFill>
              <a:effectLst/>
              <a:uFillTx/>
              <a:latin typeface="Arial"/>
            </a:endParaRPr>
          </a:p>
        </p:txBody>
      </p:sp>
      <p:sp>
        <p:nvSpPr>
          <p:cNvPr id="113" name="Text 3"/>
          <p:cNvSpPr/>
          <p:nvPr/>
        </p:nvSpPr>
        <p:spPr>
          <a:xfrm>
            <a:off x="567000" y="1481400"/>
            <a:ext cx="10881000" cy="45684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50" b="0" u="none" strike="noStrike">
                <a:solidFill>
                  <a:srgbClr val="556773"/>
                </a:solidFill>
                <a:effectLst/>
                <a:uFillTx/>
                <a:latin typeface="Arial"/>
                <a:ea typeface="Arial"/>
              </a:rPr>
              <a:t>11 models, three training runs each, on the same 40 evaluation prompts.</a:t>
            </a:r>
            <a:endParaRPr lang="it-IT" sz="1450" b="0" u="none" strike="noStrike">
              <a:solidFill>
                <a:srgbClr val="000000"/>
              </a:solidFill>
              <a:effectLst/>
              <a:uFillTx/>
              <a:latin typeface="Arial"/>
            </a:endParaRPr>
          </a:p>
        </p:txBody>
      </p:sp>
      <p:sp>
        <p:nvSpPr>
          <p:cNvPr id="114" name="Text 4"/>
          <p:cNvSpPr/>
          <p:nvPr/>
        </p:nvSpPr>
        <p:spPr>
          <a:xfrm>
            <a:off x="567000" y="5797440"/>
            <a:ext cx="6857640" cy="456840"/>
          </a:xfrm>
          <a:prstGeom prst="rect">
            <a:avLst/>
          </a:prstGeom>
          <a:noFill/>
          <a:ln w="0">
            <a:noFill/>
          </a:ln>
        </p:spPr>
        <p:style>
          <a:lnRef idx="0"/>
          <a:fillRef idx="0"/>
          <a:effectRef idx="0"/>
          <a:fontRef idx="minor"/>
        </p:style>
        <p:txBody>
          <a:bodyPr lIns="0" tIns="0" rIns="0" bIns="0" anchor="t">
            <a:noAutofit/>
          </a:bodyPr>
          <a:p>
            <a:pPr>
              <a:lnSpc>
                <a:spcPts val="1400"/>
              </a:lnSpc>
              <a:tabLst>
                <a:tab pos="0" algn="l"/>
              </a:tabLst>
            </a:pPr>
            <a:r>
              <a:rPr lang="it-IT" sz="1050" b="0" u="none" strike="noStrike">
                <a:solidFill>
                  <a:srgbClr val="556773"/>
                </a:solidFill>
                <a:effectLst/>
                <a:uFillTx/>
                <a:latin typeface="Arial"/>
                <a:ea typeface="Arial"/>
              </a:rPr>
              <a:t>Mean change in the association index (ΔSI) per model. Whiskers are one sample standard deviation across the three runs.</a:t>
            </a:r>
            <a:endParaRPr lang="it-IT" sz="1050" b="0" u="none" strike="noStrike">
              <a:solidFill>
                <a:srgbClr val="000000"/>
              </a:solidFill>
              <a:effectLst/>
              <a:uFillTx/>
              <a:latin typeface="Arial"/>
            </a:endParaRPr>
          </a:p>
        </p:txBody>
      </p:sp>
      <p:sp>
        <p:nvSpPr>
          <p:cNvPr id="115" name="Shape 5"/>
          <p:cNvSpPr/>
          <p:nvPr/>
        </p:nvSpPr>
        <p:spPr>
          <a:xfrm>
            <a:off x="7790760" y="2414160"/>
            <a:ext cx="91080" cy="91080"/>
          </a:xfrm>
          <a:prstGeom prst="ellipse">
            <a:avLst/>
          </a:prstGeom>
          <a:solidFill>
            <a:srgbClr val="377E80"/>
          </a:solidFill>
          <a:ln w="0">
            <a:noFill/>
          </a:ln>
        </p:spPr>
        <p:style>
          <a:lnRef idx="0"/>
          <a:fillRef idx="0"/>
          <a:effectRef idx="0"/>
          <a:fontRef idx="minor"/>
        </p:style>
        <p:txBody>
          <a:bodyPr lIns="90000" tIns="19440" rIns="90000" bIns="19440" anchor="t">
            <a:noAutofit/>
          </a:bodyPr>
          <a:p>
            <a:endParaRPr lang="it-IT" sz="1800" b="0" u="none" strike="noStrike">
              <a:solidFill>
                <a:srgbClr val="FFFFFF"/>
              </a:solidFill>
              <a:effectLst/>
              <a:uFillTx/>
              <a:latin typeface="Arial"/>
            </a:endParaRPr>
          </a:p>
        </p:txBody>
      </p:sp>
      <p:sp>
        <p:nvSpPr>
          <p:cNvPr id="116" name="Text 6"/>
          <p:cNvSpPr/>
          <p:nvPr/>
        </p:nvSpPr>
        <p:spPr>
          <a:xfrm>
            <a:off x="8046720" y="2286000"/>
            <a:ext cx="3611520" cy="822600"/>
          </a:xfrm>
          <a:prstGeom prst="rect">
            <a:avLst/>
          </a:prstGeom>
          <a:noFill/>
          <a:ln w="0">
            <a:noFill/>
          </a:ln>
        </p:spPr>
        <p:style>
          <a:lnRef idx="0"/>
          <a:fillRef idx="0"/>
          <a:effectRef idx="0"/>
          <a:fontRef idx="minor"/>
        </p:style>
        <p:txBody>
          <a:bodyPr lIns="0" tIns="0" rIns="0" bIns="0" anchor="t">
            <a:noAutofit/>
          </a:bodyPr>
          <a:p>
            <a:pPr>
              <a:lnSpc>
                <a:spcPts val="1743"/>
              </a:lnSpc>
              <a:tabLst>
                <a:tab pos="0" algn="l"/>
              </a:tabLst>
            </a:pPr>
            <a:r>
              <a:rPr lang="it-IT" sz="1300" b="0" u="none" strike="noStrike">
                <a:solidFill>
                  <a:srgbClr val="142B3A"/>
                </a:solidFill>
                <a:effectLst/>
                <a:uFillTx/>
                <a:latin typeface="Arial"/>
                <a:ea typeface="Arial"/>
              </a:rPr>
              <a:t>10 of the 11 model means are positive, 9 of them in all three runs.</a:t>
            </a:r>
            <a:endParaRPr lang="it-IT" sz="1300" b="0" u="none" strike="noStrike">
              <a:solidFill>
                <a:srgbClr val="000000"/>
              </a:solidFill>
              <a:effectLst/>
              <a:uFillTx/>
              <a:latin typeface="Arial"/>
            </a:endParaRPr>
          </a:p>
        </p:txBody>
      </p:sp>
      <p:sp>
        <p:nvSpPr>
          <p:cNvPr id="117" name="Shape 7"/>
          <p:cNvSpPr/>
          <p:nvPr/>
        </p:nvSpPr>
        <p:spPr>
          <a:xfrm>
            <a:off x="7790760" y="3282840"/>
            <a:ext cx="91080" cy="91080"/>
          </a:xfrm>
          <a:prstGeom prst="ellipse">
            <a:avLst/>
          </a:prstGeom>
          <a:solidFill>
            <a:srgbClr val="377E80"/>
          </a:solidFill>
          <a:ln w="0">
            <a:noFill/>
          </a:ln>
        </p:spPr>
        <p:style>
          <a:lnRef idx="0"/>
          <a:fillRef idx="0"/>
          <a:effectRef idx="0"/>
          <a:fontRef idx="minor"/>
        </p:style>
        <p:txBody>
          <a:bodyPr lIns="90000" tIns="19440" rIns="90000" bIns="19440" anchor="t">
            <a:noAutofit/>
          </a:bodyPr>
          <a:p>
            <a:endParaRPr lang="it-IT" sz="1800" b="0" u="none" strike="noStrike">
              <a:solidFill>
                <a:srgbClr val="FFFFFF"/>
              </a:solidFill>
              <a:effectLst/>
              <a:uFillTx/>
              <a:latin typeface="Arial"/>
            </a:endParaRPr>
          </a:p>
        </p:txBody>
      </p:sp>
      <p:sp>
        <p:nvSpPr>
          <p:cNvPr id="118" name="Text 8"/>
          <p:cNvSpPr/>
          <p:nvPr/>
        </p:nvSpPr>
        <p:spPr>
          <a:xfrm>
            <a:off x="8046720" y="3154680"/>
            <a:ext cx="3611520" cy="822600"/>
          </a:xfrm>
          <a:prstGeom prst="rect">
            <a:avLst/>
          </a:prstGeom>
          <a:noFill/>
          <a:ln w="0">
            <a:noFill/>
          </a:ln>
        </p:spPr>
        <p:style>
          <a:lnRef idx="0"/>
          <a:fillRef idx="0"/>
          <a:effectRef idx="0"/>
          <a:fontRef idx="minor"/>
        </p:style>
        <p:txBody>
          <a:bodyPr lIns="0" tIns="0" rIns="0" bIns="0" anchor="t">
            <a:noAutofit/>
          </a:bodyPr>
          <a:p>
            <a:pPr>
              <a:lnSpc>
                <a:spcPts val="1743"/>
              </a:lnSpc>
              <a:tabLst>
                <a:tab pos="0" algn="l"/>
              </a:tabLst>
            </a:pPr>
            <a:r>
              <a:rPr lang="it-IT" sz="1300" b="0" u="none" strike="noStrike">
                <a:solidFill>
                  <a:srgbClr val="142B3A"/>
                </a:solidFill>
                <a:effectLst/>
                <a:uFillTx/>
                <a:latin typeface="Arial"/>
                <a:ea typeface="Arial"/>
              </a:rPr>
              <a:t>Pythia-70M moved the other way in all three runs.</a:t>
            </a:r>
            <a:endParaRPr lang="it-IT" sz="1300" b="0" u="none" strike="noStrike">
              <a:solidFill>
                <a:srgbClr val="000000"/>
              </a:solidFill>
              <a:effectLst/>
              <a:uFillTx/>
              <a:latin typeface="Arial"/>
            </a:endParaRPr>
          </a:p>
        </p:txBody>
      </p:sp>
      <p:sp>
        <p:nvSpPr>
          <p:cNvPr id="119" name="Shape 9"/>
          <p:cNvSpPr/>
          <p:nvPr/>
        </p:nvSpPr>
        <p:spPr>
          <a:xfrm>
            <a:off x="7790760" y="4151520"/>
            <a:ext cx="91080" cy="91080"/>
          </a:xfrm>
          <a:prstGeom prst="ellipse">
            <a:avLst/>
          </a:prstGeom>
          <a:solidFill>
            <a:srgbClr val="377E80"/>
          </a:solidFill>
          <a:ln w="0">
            <a:noFill/>
          </a:ln>
        </p:spPr>
        <p:style>
          <a:lnRef idx="0"/>
          <a:fillRef idx="0"/>
          <a:effectRef idx="0"/>
          <a:fontRef idx="minor"/>
        </p:style>
        <p:txBody>
          <a:bodyPr lIns="90000" tIns="19440" rIns="90000" bIns="19440" anchor="t">
            <a:noAutofit/>
          </a:bodyPr>
          <a:p>
            <a:endParaRPr lang="it-IT" sz="1800" b="0" u="none" strike="noStrike">
              <a:solidFill>
                <a:srgbClr val="FFFFFF"/>
              </a:solidFill>
              <a:effectLst/>
              <a:uFillTx/>
              <a:latin typeface="Arial"/>
            </a:endParaRPr>
          </a:p>
        </p:txBody>
      </p:sp>
      <p:sp>
        <p:nvSpPr>
          <p:cNvPr id="120" name="Text 10"/>
          <p:cNvSpPr/>
          <p:nvPr/>
        </p:nvSpPr>
        <p:spPr>
          <a:xfrm>
            <a:off x="8046720" y="4023360"/>
            <a:ext cx="3611520" cy="822600"/>
          </a:xfrm>
          <a:prstGeom prst="rect">
            <a:avLst/>
          </a:prstGeom>
          <a:noFill/>
          <a:ln w="0">
            <a:noFill/>
          </a:ln>
        </p:spPr>
        <p:style>
          <a:lnRef idx="0"/>
          <a:fillRef idx="0"/>
          <a:effectRef idx="0"/>
          <a:fontRef idx="minor"/>
        </p:style>
        <p:txBody>
          <a:bodyPr lIns="0" tIns="0" rIns="0" bIns="0" anchor="t">
            <a:noAutofit/>
          </a:bodyPr>
          <a:p>
            <a:pPr>
              <a:lnSpc>
                <a:spcPts val="1743"/>
              </a:lnSpc>
              <a:tabLst>
                <a:tab pos="0" algn="l"/>
              </a:tabLst>
            </a:pPr>
            <a:r>
              <a:rPr lang="it-IT" sz="1300" b="0" u="none" strike="noStrike">
                <a:solidFill>
                  <a:srgbClr val="142B3A"/>
                </a:solidFill>
                <a:effectLst/>
                <a:uFillTx/>
                <a:latin typeface="Arial"/>
                <a:ea typeface="Arial"/>
              </a:rPr>
              <a:t>Pythia-410M has a positive mean, but its runs vary widely and one of them is negative.</a:t>
            </a:r>
            <a:endParaRPr lang="it-IT" sz="1300" b="0" u="none" strike="noStrike">
              <a:solidFill>
                <a:srgbClr val="000000"/>
              </a:solidFill>
              <a:effectLst/>
              <a:uFillTx/>
              <a:latin typeface="Arial"/>
            </a:endParaRPr>
          </a:p>
        </p:txBody>
      </p:sp>
      <p:sp>
        <p:nvSpPr>
          <p:cNvPr id="121" name="Shape 11"/>
          <p:cNvSpPr/>
          <p:nvPr/>
        </p:nvSpPr>
        <p:spPr>
          <a:xfrm>
            <a:off x="7452360" y="5230440"/>
            <a:ext cx="4205880" cy="1096920"/>
          </a:xfrm>
          <a:prstGeom prst="rect">
            <a:avLst/>
          </a:prstGeom>
          <a:solidFill>
            <a:srgbClr val="EEF5F4"/>
          </a:solidFill>
          <a:ln w="0">
            <a:noFill/>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122" name="Text 12"/>
          <p:cNvSpPr/>
          <p:nvPr/>
        </p:nvSpPr>
        <p:spPr>
          <a:xfrm>
            <a:off x="7699320" y="5340240"/>
            <a:ext cx="3711960" cy="914040"/>
          </a:xfrm>
          <a:prstGeom prst="rect">
            <a:avLst/>
          </a:prstGeom>
          <a:noFill/>
          <a:ln w="0">
            <a:noFill/>
          </a:ln>
        </p:spPr>
        <p:style>
          <a:lnRef idx="0"/>
          <a:fillRef idx="0"/>
          <a:effectRef idx="0"/>
          <a:fontRef idx="minor"/>
        </p:style>
        <p:txBody>
          <a:bodyPr lIns="0" tIns="0" rIns="0" bIns="0" anchor="t">
            <a:noAutofit/>
          </a:bodyPr>
          <a:p>
            <a:pPr>
              <a:lnSpc>
                <a:spcPts val="1400"/>
              </a:lnSpc>
              <a:tabLst>
                <a:tab pos="0" algn="l"/>
              </a:tabLst>
            </a:pPr>
            <a:r>
              <a:rPr lang="it-IT" sz="1050" b="0" u="none" strike="noStrike">
                <a:solidFill>
                  <a:srgbClr val="556773"/>
                </a:solidFill>
                <a:effectLst/>
                <a:uFillTx/>
                <a:latin typeface="Arial"/>
                <a:ea typeface="Arial"/>
              </a:rPr>
              <a:t>Across the 40 prompts, the model means for probability on the 14 target words go from 1.6 to 4.8 per cent before fine-tuning to 24.7 to 72.3 per cent after. We did not test whether general language performance changed on unrelated text.</a:t>
            </a:r>
            <a:endParaRPr lang="it-IT" sz="1050" b="0" u="none" strike="noStrike">
              <a:solidFill>
                <a:srgbClr val="000000"/>
              </a:solidFill>
              <a:effectLst/>
              <a:uFillTx/>
              <a:latin typeface="Arial"/>
            </a:endParaRPr>
          </a:p>
        </p:txBody>
      </p:sp>
      <p:sp>
        <p:nvSpPr>
          <p:cNvPr id="123" name="Text 13">
            <a:hlinkClick r:id="rId1"/>
          </p:cNvPr>
          <p:cNvSpPr/>
          <p:nvPr/>
        </p:nvSpPr>
        <p:spPr>
          <a:xfrm>
            <a:off x="567000" y="645552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000000"/>
              </a:solidFill>
              <a:effectLst/>
              <a:uFillTx/>
              <a:latin typeface="Arial"/>
            </a:endParaRPr>
          </a:p>
        </p:txBody>
      </p:sp>
      <p:sp>
        <p:nvSpPr>
          <p:cNvPr id="124" name="Text 14"/>
          <p:cNvSpPr/>
          <p:nvPr/>
        </p:nvSpPr>
        <p:spPr>
          <a:xfrm>
            <a:off x="10253160" y="645552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556773"/>
                </a:solidFill>
                <a:effectLst/>
                <a:uFillTx/>
                <a:latin typeface="Arial"/>
                <a:ea typeface="Arial"/>
              </a:rPr>
              <a:t>6 / 9</a:t>
            </a:r>
            <a:endParaRPr lang="it-IT" sz="900" b="0" u="none" strike="noStrike">
              <a:solidFill>
                <a:srgbClr val="000000"/>
              </a:solidFill>
              <a:effectLst/>
              <a:uFillTx/>
              <a:latin typeface="Arial"/>
            </a:endParaRPr>
          </a:p>
        </p:txBody>
      </p:sp>
      <p:pic>
        <p:nvPicPr>
          <p:cNvPr id="125" name=""/>
          <p:cNvPicPr/>
          <p:nvPr/>
        </p:nvPicPr>
        <p:blipFill>
          <a:blip r:embed="rId3"/>
          <a:stretch/>
        </p:blipFill>
        <p:spPr>
          <a:xfrm>
            <a:off x="523440" y="2148840"/>
            <a:ext cx="6944400" cy="3611520"/>
          </a:xfrm>
          <a:prstGeom prst="rect">
            <a:avLst/>
          </a:prstGeom>
          <a:noFill/>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2B3A"/>
        </a:solidFill>
      </p:bgPr>
    </p:bg>
    <p:spTree>
      <p:nvGrpSpPr>
        <p:cNvPr id="1" name=""/>
        <p:cNvGrpSpPr/>
        <p:nvPr/>
      </p:nvGrpSpPr>
      <p:grpSpPr>
        <a:xfrm>
          <a:off x="0" y="0"/>
          <a:ext cx="0" cy="0"/>
          <a:chOff x="0" y="0"/>
          <a:chExt cx="0" cy="0"/>
        </a:xfrm>
      </p:grpSpPr>
      <p:sp>
        <p:nvSpPr>
          <p:cNvPr id="126"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86BBBA"/>
                </a:solidFill>
                <a:effectLst/>
                <a:uFillTx/>
                <a:latin typeface="Arial"/>
                <a:ea typeface="Arial"/>
              </a:rPr>
              <a:t>RESEARCH DIRECTIONS</a:t>
            </a:r>
            <a:endParaRPr lang="it-IT" sz="1050" b="0" u="none" strike="noStrike">
              <a:solidFill>
                <a:srgbClr val="FFFFFF"/>
              </a:solidFill>
              <a:effectLst/>
              <a:uFillTx/>
              <a:latin typeface="Arial"/>
            </a:endParaRPr>
          </a:p>
        </p:txBody>
      </p:sp>
      <p:sp>
        <p:nvSpPr>
          <p:cNvPr id="127"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FFFFFF"/>
                </a:solidFill>
                <a:effectLst/>
                <a:uFillTx/>
                <a:latin typeface="Arial"/>
                <a:ea typeface="Arial"/>
              </a:rPr>
              <a:t>ERA</a:t>
            </a:r>
            <a:endParaRPr lang="it-IT" sz="1300" b="0" u="none" strike="noStrike">
              <a:solidFill>
                <a:srgbClr val="FFFFFF"/>
              </a:solidFill>
              <a:effectLst/>
              <a:uFillTx/>
              <a:latin typeface="Arial"/>
            </a:endParaRPr>
          </a:p>
        </p:txBody>
      </p:sp>
      <p:sp>
        <p:nvSpPr>
          <p:cNvPr id="128" name="Text 2"/>
          <p:cNvSpPr/>
          <p:nvPr/>
        </p:nvSpPr>
        <p:spPr>
          <a:xfrm>
            <a:off x="567000" y="786240"/>
            <a:ext cx="10881000" cy="639720"/>
          </a:xfrm>
          <a:prstGeom prst="rect">
            <a:avLst/>
          </a:prstGeom>
          <a:noFill/>
          <a:ln w="0">
            <a:noFill/>
          </a:ln>
        </p:spPr>
        <p:style>
          <a:lnRef idx="0"/>
          <a:fillRef idx="0"/>
          <a:effectRef idx="0"/>
          <a:fontRef idx="minor"/>
        </p:style>
        <p:txBody>
          <a:bodyPr lIns="0" tIns="0" rIns="0" bIns="0" anchor="t">
            <a:noAutofit/>
          </a:bodyPr>
          <a:p>
            <a:pPr>
              <a:lnSpc>
                <a:spcPts val="3617"/>
              </a:lnSpc>
              <a:tabLst>
                <a:tab pos="0" algn="l"/>
              </a:tabLst>
            </a:pPr>
            <a:r>
              <a:rPr lang="it-IT" sz="3200" b="1" u="none" strike="noStrike">
                <a:solidFill>
                  <a:srgbClr val="FFFFFF"/>
                </a:solidFill>
                <a:effectLst/>
                <a:uFillTx/>
                <a:latin typeface="Arial"/>
                <a:ea typeface="Arial"/>
              </a:rPr>
              <a:t>Following change through a model family</a:t>
            </a:r>
            <a:endParaRPr lang="it-IT" sz="3200" b="0" u="none" strike="noStrike">
              <a:solidFill>
                <a:srgbClr val="FFFFFF"/>
              </a:solidFill>
              <a:effectLst/>
              <a:uFillTx/>
              <a:latin typeface="Arial"/>
            </a:endParaRPr>
          </a:p>
        </p:txBody>
      </p:sp>
      <p:sp>
        <p:nvSpPr>
          <p:cNvPr id="129" name="Text 3"/>
          <p:cNvSpPr/>
          <p:nvPr/>
        </p:nvSpPr>
        <p:spPr>
          <a:xfrm>
            <a:off x="567000" y="1536120"/>
            <a:ext cx="10881000" cy="45684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50" b="0" u="none" strike="noStrike">
                <a:solidFill>
                  <a:srgbClr val="D6E7E8"/>
                </a:solidFill>
                <a:effectLst/>
                <a:uFillTx/>
                <a:latin typeface="Arial"/>
                <a:ea typeface="Arial"/>
              </a:rPr>
              <a:t>I want to connect individual comparisons to follow how changes emerge, persist or fade across a model's descendants.</a:t>
            </a:r>
            <a:endParaRPr lang="it-IT" sz="1450" b="0" u="none" strike="noStrike">
              <a:solidFill>
                <a:srgbClr val="FFFFFF"/>
              </a:solidFill>
              <a:effectLst/>
              <a:uFillTx/>
              <a:latin typeface="Arial"/>
            </a:endParaRPr>
          </a:p>
        </p:txBody>
      </p:sp>
      <p:sp>
        <p:nvSpPr>
          <p:cNvPr id="130" name="Shape 4"/>
          <p:cNvSpPr/>
          <p:nvPr/>
        </p:nvSpPr>
        <p:spPr>
          <a:xfrm>
            <a:off x="3000240" y="2457360"/>
            <a:ext cx="1874160" cy="566640"/>
          </a:xfrm>
          <a:prstGeom prst="roundRect">
            <a:avLst>
              <a:gd name="adj" fmla="val 12903"/>
            </a:avLst>
          </a:prstGeom>
          <a:solidFill>
            <a:srgbClr val="FFFFFF"/>
          </a:solidFill>
          <a:ln w="0">
            <a:noFill/>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131" name="Text 5"/>
          <p:cNvSpPr/>
          <p:nvPr/>
        </p:nvSpPr>
        <p:spPr>
          <a:xfrm>
            <a:off x="3000240" y="2457360"/>
            <a:ext cx="187416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00" b="0" u="none" strike="noStrike">
                <a:solidFill>
                  <a:srgbClr val="142B3A"/>
                </a:solidFill>
                <a:effectLst/>
                <a:uFillTx/>
                <a:latin typeface="Arial"/>
                <a:ea typeface="Arial"/>
              </a:rPr>
              <a:t>Base model</a:t>
            </a:r>
            <a:endParaRPr lang="it-IT" sz="1200" b="0" u="none" strike="noStrike">
              <a:solidFill>
                <a:srgbClr val="FFFFFF"/>
              </a:solidFill>
              <a:effectLst/>
              <a:uFillTx/>
              <a:latin typeface="Arial"/>
            </a:endParaRPr>
          </a:p>
        </p:txBody>
      </p:sp>
      <p:sp>
        <p:nvSpPr>
          <p:cNvPr id="132" name="Shape 6"/>
          <p:cNvSpPr/>
          <p:nvPr/>
        </p:nvSpPr>
        <p:spPr>
          <a:xfrm>
            <a:off x="1219320" y="3619440"/>
            <a:ext cx="1874160" cy="566640"/>
          </a:xfrm>
          <a:prstGeom prst="roundRect">
            <a:avLst>
              <a:gd name="adj" fmla="val 12903"/>
            </a:avLst>
          </a:prstGeom>
          <a:solidFill>
            <a:srgbClr val="86BBBA"/>
          </a:solidFill>
          <a:ln w="0">
            <a:noFill/>
          </a:ln>
        </p:spPr>
        <p:style>
          <a:lnRef idx="0"/>
          <a:fillRef idx="0"/>
          <a:effectRef idx="0"/>
          <a:fontRef idx="minor"/>
        </p:style>
        <p:txBody>
          <a:bodyPr lIns="90000" tIns="45000" rIns="90000" bIns="45000" anchor="t">
            <a:noAutofit/>
          </a:bodyPr>
          <a:p>
            <a:endParaRPr lang="it-IT" sz="1800" b="0" u="none" strike="noStrike">
              <a:solidFill>
                <a:srgbClr val="000000"/>
              </a:solidFill>
              <a:effectLst/>
              <a:uFillTx/>
              <a:latin typeface="Arial"/>
            </a:endParaRPr>
          </a:p>
        </p:txBody>
      </p:sp>
      <p:sp>
        <p:nvSpPr>
          <p:cNvPr id="133" name="Text 7"/>
          <p:cNvSpPr/>
          <p:nvPr/>
        </p:nvSpPr>
        <p:spPr>
          <a:xfrm>
            <a:off x="1219320" y="3619440"/>
            <a:ext cx="187416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00" b="0" u="none" strike="noStrike">
                <a:solidFill>
                  <a:srgbClr val="142B3A"/>
                </a:solidFill>
                <a:effectLst/>
                <a:uFillTx/>
                <a:latin typeface="Arial"/>
                <a:ea typeface="Arial"/>
              </a:rPr>
              <a:t>Model A</a:t>
            </a:r>
            <a:endParaRPr lang="it-IT" sz="1200" b="0" u="none" strike="noStrike">
              <a:solidFill>
                <a:srgbClr val="FFFFFF"/>
              </a:solidFill>
              <a:effectLst/>
              <a:uFillTx/>
              <a:latin typeface="Arial"/>
            </a:endParaRPr>
          </a:p>
        </p:txBody>
      </p:sp>
      <p:sp>
        <p:nvSpPr>
          <p:cNvPr id="134" name="Shape 8"/>
          <p:cNvSpPr/>
          <p:nvPr/>
        </p:nvSpPr>
        <p:spPr>
          <a:xfrm>
            <a:off x="4686480" y="3619440"/>
            <a:ext cx="1874160" cy="566640"/>
          </a:xfrm>
          <a:prstGeom prst="roundRect">
            <a:avLst>
              <a:gd name="adj" fmla="val 12903"/>
            </a:avLst>
          </a:prstGeom>
          <a:solidFill>
            <a:srgbClr val="1E3A4B"/>
          </a:solidFill>
          <a:ln w="12700">
            <a:solidFill>
              <a:srgbClr val="86BBBA"/>
            </a:solidFill>
            <a:round/>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35" name="Text 9"/>
          <p:cNvSpPr/>
          <p:nvPr/>
        </p:nvSpPr>
        <p:spPr>
          <a:xfrm>
            <a:off x="4686480" y="3619440"/>
            <a:ext cx="187416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00" b="0" u="none" strike="noStrike">
                <a:solidFill>
                  <a:srgbClr val="FFFFFF"/>
                </a:solidFill>
                <a:effectLst/>
                <a:uFillTx/>
                <a:latin typeface="Arial"/>
                <a:ea typeface="Arial"/>
              </a:rPr>
              <a:t>Model B</a:t>
            </a:r>
            <a:endParaRPr lang="it-IT" sz="1200" b="0" u="none" strike="noStrike">
              <a:solidFill>
                <a:srgbClr val="FFFFFF"/>
              </a:solidFill>
              <a:effectLst/>
              <a:uFillTx/>
              <a:latin typeface="Arial"/>
            </a:endParaRPr>
          </a:p>
        </p:txBody>
      </p:sp>
      <p:sp>
        <p:nvSpPr>
          <p:cNvPr id="136" name="Shape 10"/>
          <p:cNvSpPr/>
          <p:nvPr/>
        </p:nvSpPr>
        <p:spPr>
          <a:xfrm>
            <a:off x="571680" y="4857840"/>
            <a:ext cx="1428480" cy="566640"/>
          </a:xfrm>
          <a:prstGeom prst="roundRect">
            <a:avLst>
              <a:gd name="adj" fmla="val 12903"/>
            </a:avLst>
          </a:prstGeom>
          <a:solidFill>
            <a:srgbClr val="377E80"/>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37" name="Text 11"/>
          <p:cNvSpPr/>
          <p:nvPr/>
        </p:nvSpPr>
        <p:spPr>
          <a:xfrm>
            <a:off x="571680" y="4857840"/>
            <a:ext cx="142848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00" b="0" u="none" strike="noStrike">
                <a:solidFill>
                  <a:srgbClr val="FFFFFF"/>
                </a:solidFill>
                <a:effectLst/>
                <a:uFillTx/>
                <a:latin typeface="Arial"/>
                <a:ea typeface="Arial"/>
              </a:rPr>
              <a:t>A1</a:t>
            </a:r>
            <a:endParaRPr lang="it-IT" sz="1200" b="0" u="none" strike="noStrike">
              <a:solidFill>
                <a:srgbClr val="FFFFFF"/>
              </a:solidFill>
              <a:effectLst/>
              <a:uFillTx/>
              <a:latin typeface="Arial"/>
            </a:endParaRPr>
          </a:p>
        </p:txBody>
      </p:sp>
      <p:sp>
        <p:nvSpPr>
          <p:cNvPr id="138" name="Text 15"/>
          <p:cNvSpPr/>
          <p:nvPr/>
        </p:nvSpPr>
        <p:spPr>
          <a:xfrm>
            <a:off x="8092440" y="2651760"/>
            <a:ext cx="3565800" cy="2923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400" b="1" u="none" strike="noStrike">
                <a:solidFill>
                  <a:srgbClr val="FFFFFF"/>
                </a:solidFill>
                <a:effectLst/>
                <a:uFillTx/>
                <a:latin typeface="Arial"/>
                <a:ea typeface="Arial"/>
              </a:rPr>
              <a:t>Where a change first appears</a:t>
            </a:r>
            <a:endParaRPr lang="it-IT" sz="1400" b="0" u="none" strike="noStrike">
              <a:solidFill>
                <a:srgbClr val="FFFFFF"/>
              </a:solidFill>
              <a:effectLst/>
              <a:uFillTx/>
              <a:latin typeface="Arial"/>
            </a:endParaRPr>
          </a:p>
        </p:txBody>
      </p:sp>
      <p:sp>
        <p:nvSpPr>
          <p:cNvPr id="139" name="Text 16"/>
          <p:cNvSpPr/>
          <p:nvPr/>
        </p:nvSpPr>
        <p:spPr>
          <a:xfrm>
            <a:off x="8092440" y="2962800"/>
            <a:ext cx="3565800" cy="840960"/>
          </a:xfrm>
          <a:prstGeom prst="rect">
            <a:avLst/>
          </a:prstGeom>
          <a:noFill/>
          <a:ln w="0">
            <a:noFill/>
          </a:ln>
        </p:spPr>
        <p:style>
          <a:lnRef idx="0"/>
          <a:fillRef idx="0"/>
          <a:effectRef idx="0"/>
          <a:fontRef idx="minor"/>
        </p:style>
        <p:txBody>
          <a:bodyPr lIns="0" tIns="0" rIns="0" bIns="0" anchor="t">
            <a:noAutofit/>
          </a:bodyPr>
          <a:p>
            <a:pPr>
              <a:lnSpc>
                <a:spcPts val="1500"/>
              </a:lnSpc>
              <a:tabLst>
                <a:tab pos="0" algn="l"/>
              </a:tabLst>
            </a:pPr>
            <a:r>
              <a:rPr lang="it-IT" sz="1150" b="0" u="none" strike="noStrike">
                <a:solidFill>
                  <a:srgbClr val="D6E7E8"/>
                </a:solidFill>
                <a:effectLst/>
                <a:uFillTx/>
                <a:latin typeface="Arial"/>
                <a:ea typeface="Arial"/>
              </a:rPr>
              <a:t>Locating the step in a known sequence where a measured change first shows up.</a:t>
            </a:r>
            <a:endParaRPr lang="it-IT" sz="1150" b="0" u="none" strike="noStrike">
              <a:solidFill>
                <a:srgbClr val="FFFFFF"/>
              </a:solidFill>
              <a:effectLst/>
              <a:uFillTx/>
              <a:latin typeface="Arial"/>
            </a:endParaRPr>
          </a:p>
        </p:txBody>
      </p:sp>
      <p:sp>
        <p:nvSpPr>
          <p:cNvPr id="140" name="Text 17"/>
          <p:cNvSpPr/>
          <p:nvPr/>
        </p:nvSpPr>
        <p:spPr>
          <a:xfrm>
            <a:off x="8092440" y="3749040"/>
            <a:ext cx="3565800" cy="2923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400" b="1" u="none" strike="noStrike">
                <a:solidFill>
                  <a:srgbClr val="FFFFFF"/>
                </a:solidFill>
                <a:effectLst/>
                <a:uFillTx/>
                <a:latin typeface="Arial"/>
                <a:ea typeface="Arial"/>
              </a:rPr>
              <a:t>Indirect clues about the data</a:t>
            </a:r>
            <a:endParaRPr lang="it-IT" sz="1400" b="0" u="none" strike="noStrike">
              <a:solidFill>
                <a:srgbClr val="FFFFFF"/>
              </a:solidFill>
              <a:effectLst/>
              <a:uFillTx/>
              <a:latin typeface="Arial"/>
            </a:endParaRPr>
          </a:p>
        </p:txBody>
      </p:sp>
      <p:sp>
        <p:nvSpPr>
          <p:cNvPr id="141" name="Text 18"/>
          <p:cNvSpPr/>
          <p:nvPr/>
        </p:nvSpPr>
        <p:spPr>
          <a:xfrm>
            <a:off x="8092440" y="4060080"/>
            <a:ext cx="3565800" cy="840960"/>
          </a:xfrm>
          <a:prstGeom prst="rect">
            <a:avLst/>
          </a:prstGeom>
          <a:noFill/>
          <a:ln w="0">
            <a:noFill/>
          </a:ln>
        </p:spPr>
        <p:style>
          <a:lnRef idx="0"/>
          <a:fillRef idx="0"/>
          <a:effectRef idx="0"/>
          <a:fontRef idx="minor"/>
        </p:style>
        <p:txBody>
          <a:bodyPr lIns="0" tIns="0" rIns="0" bIns="0" anchor="t">
            <a:noAutofit/>
          </a:bodyPr>
          <a:p>
            <a:pPr>
              <a:lnSpc>
                <a:spcPts val="1500"/>
              </a:lnSpc>
              <a:tabLst>
                <a:tab pos="0" algn="l"/>
              </a:tabLst>
            </a:pPr>
            <a:r>
              <a:rPr lang="it-IT" sz="1150" b="0" u="none" strike="noStrike">
                <a:solidFill>
                  <a:srgbClr val="D6E7E8"/>
                </a:solidFill>
                <a:effectLst/>
                <a:uFillTx/>
                <a:latin typeface="Arial"/>
                <a:ea typeface="Arial"/>
              </a:rPr>
              <a:t>What a change leaves behind may suggest something about the training text. Signals, not reconstruction.</a:t>
            </a:r>
            <a:endParaRPr lang="it-IT" sz="1150" b="0" u="none" strike="noStrike">
              <a:solidFill>
                <a:srgbClr val="FFFFFF"/>
              </a:solidFill>
              <a:effectLst/>
              <a:uFillTx/>
              <a:latin typeface="Arial"/>
            </a:endParaRPr>
          </a:p>
        </p:txBody>
      </p:sp>
      <p:sp>
        <p:nvSpPr>
          <p:cNvPr id="142" name="Text 19"/>
          <p:cNvSpPr/>
          <p:nvPr/>
        </p:nvSpPr>
        <p:spPr>
          <a:xfrm>
            <a:off x="8092440" y="4846320"/>
            <a:ext cx="3565800" cy="2923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400" b="1" u="none" strike="noStrike">
                <a:solidFill>
                  <a:srgbClr val="FFFFFF"/>
                </a:solidFill>
                <a:effectLst/>
                <a:uFillTx/>
                <a:latin typeface="Arial"/>
                <a:ea typeface="Arial"/>
              </a:rPr>
              <a:t>Evidence to support a review</a:t>
            </a:r>
            <a:endParaRPr lang="it-IT" sz="1400" b="0" u="none" strike="noStrike">
              <a:solidFill>
                <a:srgbClr val="FFFFFF"/>
              </a:solidFill>
              <a:effectLst/>
              <a:uFillTx/>
              <a:latin typeface="Arial"/>
            </a:endParaRPr>
          </a:p>
        </p:txBody>
      </p:sp>
      <p:sp>
        <p:nvSpPr>
          <p:cNvPr id="143" name="Text 20"/>
          <p:cNvSpPr/>
          <p:nvPr/>
        </p:nvSpPr>
        <p:spPr>
          <a:xfrm>
            <a:off x="8092440" y="5157360"/>
            <a:ext cx="3565800" cy="840960"/>
          </a:xfrm>
          <a:prstGeom prst="rect">
            <a:avLst/>
          </a:prstGeom>
          <a:noFill/>
          <a:ln w="0">
            <a:noFill/>
          </a:ln>
        </p:spPr>
        <p:style>
          <a:lnRef idx="0"/>
          <a:fillRef idx="0"/>
          <a:effectRef idx="0"/>
          <a:fontRef idx="minor"/>
        </p:style>
        <p:txBody>
          <a:bodyPr lIns="0" tIns="0" rIns="0" bIns="0" anchor="t">
            <a:noAutofit/>
          </a:bodyPr>
          <a:p>
            <a:pPr>
              <a:lnSpc>
                <a:spcPts val="1500"/>
              </a:lnSpc>
              <a:tabLst>
                <a:tab pos="0" algn="l"/>
              </a:tabLst>
            </a:pPr>
            <a:r>
              <a:rPr lang="it-IT" sz="1150" b="0" u="none" strike="noStrike">
                <a:solidFill>
                  <a:srgbClr val="D6E7E8"/>
                </a:solidFill>
                <a:effectLst/>
                <a:uFillTx/>
                <a:latin typeface="Arial"/>
                <a:ea typeface="Arial"/>
              </a:rPr>
              <a:t>Measurements gathered for one stated concern, with criteria written down and validated against behaviour.</a:t>
            </a:r>
            <a:endParaRPr lang="it-IT" sz="1150" b="0" u="none" strike="noStrike">
              <a:solidFill>
                <a:srgbClr val="FFFFFF"/>
              </a:solidFill>
              <a:effectLst/>
              <a:uFillTx/>
              <a:latin typeface="Arial"/>
            </a:endParaRPr>
          </a:p>
        </p:txBody>
      </p:sp>
      <p:sp>
        <p:nvSpPr>
          <p:cNvPr id="144" name="Shape 21"/>
          <p:cNvSpPr/>
          <p:nvPr/>
        </p:nvSpPr>
        <p:spPr>
          <a:xfrm>
            <a:off x="0" y="5961960"/>
            <a:ext cx="12191400" cy="895680"/>
          </a:xfrm>
          <a:prstGeom prst="rect">
            <a:avLst/>
          </a:prstGeom>
          <a:solidFill>
            <a:srgbClr val="0D1F2B"/>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45" name="Text 22"/>
          <p:cNvSpPr/>
          <p:nvPr/>
        </p:nvSpPr>
        <p:spPr>
          <a:xfrm>
            <a:off x="567000" y="6108120"/>
            <a:ext cx="10881000" cy="3286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300" b="0" u="none" strike="noStrike">
                <a:solidFill>
                  <a:srgbClr val="FFFFFF"/>
                </a:solidFill>
                <a:effectLst/>
                <a:uFillTx/>
                <a:latin typeface="Arial"/>
                <a:ea typeface="Arial"/>
              </a:rPr>
              <a:t>Today ERA compares one related pair. The family tree is the next research direction.</a:t>
            </a:r>
            <a:endParaRPr lang="it-IT" sz="1300" b="0" u="none" strike="noStrike">
              <a:solidFill>
                <a:srgbClr val="FFFFFF"/>
              </a:solidFill>
              <a:effectLst/>
              <a:uFillTx/>
              <a:latin typeface="Arial"/>
            </a:endParaRPr>
          </a:p>
        </p:txBody>
      </p:sp>
      <p:sp>
        <p:nvSpPr>
          <p:cNvPr id="146" name="Text 23">
            <a:hlinkClick r:id="rId1"/>
          </p:cNvPr>
          <p:cNvSpPr/>
          <p:nvPr/>
        </p:nvSpPr>
        <p:spPr>
          <a:xfrm>
            <a:off x="567000" y="652896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FFFFFF"/>
              </a:solidFill>
              <a:effectLst/>
              <a:uFillTx/>
              <a:latin typeface="Arial"/>
            </a:endParaRPr>
          </a:p>
        </p:txBody>
      </p:sp>
      <p:sp>
        <p:nvSpPr>
          <p:cNvPr id="147" name="Text 24"/>
          <p:cNvSpPr/>
          <p:nvPr/>
        </p:nvSpPr>
        <p:spPr>
          <a:xfrm>
            <a:off x="10253160" y="652896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7F98A5"/>
                </a:solidFill>
                <a:effectLst/>
                <a:uFillTx/>
                <a:latin typeface="Arial"/>
                <a:ea typeface="Arial"/>
              </a:rPr>
              <a:t>7 / 9</a:t>
            </a:r>
            <a:endParaRPr lang="it-IT" sz="900" b="0" u="none" strike="noStrike">
              <a:solidFill>
                <a:srgbClr val="FFFFFF"/>
              </a:solidFill>
              <a:effectLst/>
              <a:uFillTx/>
              <a:latin typeface="Arial"/>
            </a:endParaRPr>
          </a:p>
        </p:txBody>
      </p:sp>
      <p:sp>
        <p:nvSpPr>
          <p:cNvPr id="148" name="lineage-A2"/>
          <p:cNvSpPr/>
          <p:nvPr/>
        </p:nvSpPr>
        <p:spPr>
          <a:xfrm>
            <a:off x="2333520" y="4857840"/>
            <a:ext cx="1428480" cy="566640"/>
          </a:xfrm>
          <a:prstGeom prst="roundRect">
            <a:avLst>
              <a:gd name="adj" fmla="val 13441"/>
            </a:avLst>
          </a:prstGeom>
          <a:solidFill>
            <a:srgbClr val="377E80"/>
          </a:solidFill>
          <a:ln w="0">
            <a:noFill/>
          </a:ln>
        </p:spPr>
        <p:style>
          <a:lnRef idx="0"/>
          <a:fillRef idx="0"/>
          <a:effectRef idx="0"/>
          <a:fontRef idx="minor"/>
        </p:style>
        <p:txBody>
          <a:bodyPr lIns="0" tIns="0" rIns="0" bIns="0" anchor="ctr">
            <a:noAutofit/>
          </a:bodyPr>
          <a:p>
            <a:pPr algn="ctr">
              <a:lnSpc>
                <a:spcPct val="100000"/>
              </a:lnSpc>
            </a:pPr>
            <a:r>
              <a:rPr lang="it-IT" sz="1200" b="0" u="none" strike="noStrike">
                <a:solidFill>
                  <a:srgbClr val="FFFFFF"/>
                </a:solidFill>
                <a:effectLst/>
                <a:uFillTx/>
                <a:latin typeface="Arial"/>
                <a:ea typeface="Arial"/>
              </a:rPr>
              <a:t>A2</a:t>
            </a:r>
            <a:endParaRPr lang="it-IT" sz="1200" b="0" u="none" strike="noStrike">
              <a:solidFill>
                <a:srgbClr val="FFFFFF"/>
              </a:solidFill>
              <a:effectLst/>
              <a:uFillTx/>
              <a:latin typeface="Arial"/>
            </a:endParaRPr>
          </a:p>
        </p:txBody>
      </p:sp>
      <p:sp>
        <p:nvSpPr>
          <p:cNvPr id="149" name="lineage-B1"/>
          <p:cNvSpPr/>
          <p:nvPr/>
        </p:nvSpPr>
        <p:spPr>
          <a:xfrm>
            <a:off x="4095720" y="4857840"/>
            <a:ext cx="1428480" cy="566640"/>
          </a:xfrm>
          <a:prstGeom prst="roundRect">
            <a:avLst>
              <a:gd name="adj" fmla="val 13441"/>
            </a:avLst>
          </a:prstGeom>
          <a:solidFill>
            <a:srgbClr val="377E80"/>
          </a:solidFill>
          <a:ln w="0">
            <a:noFill/>
          </a:ln>
        </p:spPr>
        <p:style>
          <a:lnRef idx="0"/>
          <a:fillRef idx="0"/>
          <a:effectRef idx="0"/>
          <a:fontRef idx="minor"/>
        </p:style>
        <p:txBody>
          <a:bodyPr lIns="0" tIns="0" rIns="0" bIns="0" anchor="ctr">
            <a:noAutofit/>
          </a:bodyPr>
          <a:p>
            <a:pPr algn="ctr">
              <a:lnSpc>
                <a:spcPct val="100000"/>
              </a:lnSpc>
            </a:pPr>
            <a:r>
              <a:rPr lang="it-IT" sz="1200" b="0" u="none" strike="noStrike">
                <a:solidFill>
                  <a:srgbClr val="FFFFFF"/>
                </a:solidFill>
                <a:effectLst/>
                <a:uFillTx/>
                <a:latin typeface="Arial"/>
                <a:ea typeface="Arial"/>
              </a:rPr>
              <a:t>B1</a:t>
            </a:r>
            <a:endParaRPr lang="it-IT" sz="1200" b="0" u="none" strike="noStrike">
              <a:solidFill>
                <a:srgbClr val="FFFFFF"/>
              </a:solidFill>
              <a:effectLst/>
              <a:uFillTx/>
              <a:latin typeface="Arial"/>
            </a:endParaRPr>
          </a:p>
        </p:txBody>
      </p:sp>
      <p:sp>
        <p:nvSpPr>
          <p:cNvPr id="150" name="lineage-B2"/>
          <p:cNvSpPr/>
          <p:nvPr/>
        </p:nvSpPr>
        <p:spPr>
          <a:xfrm>
            <a:off x="5857920" y="4857840"/>
            <a:ext cx="1428480" cy="566640"/>
          </a:xfrm>
          <a:prstGeom prst="roundRect">
            <a:avLst>
              <a:gd name="adj" fmla="val 13441"/>
            </a:avLst>
          </a:prstGeom>
          <a:solidFill>
            <a:srgbClr val="377E80"/>
          </a:solidFill>
          <a:ln w="0">
            <a:noFill/>
          </a:ln>
        </p:spPr>
        <p:style>
          <a:lnRef idx="0"/>
          <a:fillRef idx="0"/>
          <a:effectRef idx="0"/>
          <a:fontRef idx="minor"/>
        </p:style>
        <p:txBody>
          <a:bodyPr lIns="0" tIns="0" rIns="0" bIns="0" anchor="ctr">
            <a:noAutofit/>
          </a:bodyPr>
          <a:p>
            <a:pPr algn="ctr">
              <a:lnSpc>
                <a:spcPct val="100000"/>
              </a:lnSpc>
            </a:pPr>
            <a:r>
              <a:rPr lang="it-IT" sz="1200" b="0" u="none" strike="noStrike">
                <a:solidFill>
                  <a:srgbClr val="FFFFFF"/>
                </a:solidFill>
                <a:effectLst/>
                <a:uFillTx/>
                <a:latin typeface="Arial"/>
                <a:ea typeface="Arial"/>
              </a:rPr>
              <a:t>B2</a:t>
            </a:r>
            <a:endParaRPr lang="it-IT" sz="1200" b="0" u="none" strike="noStrike">
              <a:solidFill>
                <a:srgbClr val="FFFFFF"/>
              </a:solidFill>
              <a:effectLst/>
              <a:uFillTx/>
              <a:latin typeface="Arial"/>
            </a:endParaRPr>
          </a:p>
        </p:txBody>
      </p:sp>
      <p:cxnSp>
        <p:nvCxnSpPr>
          <p:cNvPr id="151" name=""/>
          <p:cNvCxnSpPr>
            <a:stCxn id="130" idx="2"/>
            <a:endCxn id="132" idx="0"/>
          </p:cNvCxnSpPr>
          <p:nvPr/>
        </p:nvCxnSpPr>
        <p:spPr>
          <a:xfrm flipH="1">
            <a:off x="2156400" y="3024000"/>
            <a:ext cx="1781280" cy="595800"/>
          </a:xfrm>
          <a:prstGeom prst="straightConnector1">
            <a:avLst/>
          </a:prstGeom>
          <a:ln w="14288">
            <a:solidFill>
              <a:srgbClr val="87BDBD"/>
            </a:solidFill>
            <a:round/>
            <a:tailEnd len="sm" type="arrow" w="sm"/>
          </a:ln>
        </p:spPr>
      </p:cxnSp>
      <p:cxnSp>
        <p:nvCxnSpPr>
          <p:cNvPr id="152" name=""/>
          <p:cNvCxnSpPr>
            <a:stCxn id="130" idx="2"/>
            <a:endCxn id="134" idx="0"/>
          </p:cNvCxnSpPr>
          <p:nvPr/>
        </p:nvCxnSpPr>
        <p:spPr>
          <a:xfrm>
            <a:off x="3937320" y="3024000"/>
            <a:ext cx="1686600" cy="595800"/>
          </a:xfrm>
          <a:prstGeom prst="straightConnector1">
            <a:avLst/>
          </a:prstGeom>
          <a:ln w="14288">
            <a:solidFill>
              <a:srgbClr val="87BDBD"/>
            </a:solidFill>
            <a:round/>
            <a:tailEnd len="sm" type="arrow" w="sm"/>
          </a:ln>
        </p:spPr>
      </p:cxnSp>
      <p:cxnSp>
        <p:nvCxnSpPr>
          <p:cNvPr id="153" name=""/>
          <p:cNvCxnSpPr>
            <a:stCxn id="132" idx="2"/>
            <a:endCxn id="136" idx="0"/>
          </p:cNvCxnSpPr>
          <p:nvPr/>
        </p:nvCxnSpPr>
        <p:spPr>
          <a:xfrm flipH="1">
            <a:off x="1285920" y="4186080"/>
            <a:ext cx="870840" cy="672120"/>
          </a:xfrm>
          <a:prstGeom prst="straightConnector1">
            <a:avLst/>
          </a:prstGeom>
          <a:ln w="14288">
            <a:solidFill>
              <a:srgbClr val="87BDBD"/>
            </a:solidFill>
            <a:round/>
            <a:tailEnd len="sm" type="arrow" w="sm"/>
          </a:ln>
        </p:spPr>
      </p:cxnSp>
      <p:cxnSp>
        <p:nvCxnSpPr>
          <p:cNvPr id="154" name=""/>
          <p:cNvCxnSpPr>
            <a:stCxn id="132" idx="2"/>
            <a:endCxn id="148" idx="0"/>
          </p:cNvCxnSpPr>
          <p:nvPr/>
        </p:nvCxnSpPr>
        <p:spPr>
          <a:xfrm>
            <a:off x="2156400" y="4186080"/>
            <a:ext cx="891720" cy="672120"/>
          </a:xfrm>
          <a:prstGeom prst="straightConnector1">
            <a:avLst/>
          </a:prstGeom>
          <a:ln w="14288">
            <a:solidFill>
              <a:srgbClr val="87BDBD"/>
            </a:solidFill>
            <a:round/>
            <a:tailEnd len="sm" type="arrow" w="sm"/>
          </a:ln>
        </p:spPr>
      </p:cxnSp>
      <p:cxnSp>
        <p:nvCxnSpPr>
          <p:cNvPr id="155" name=""/>
          <p:cNvCxnSpPr>
            <a:stCxn id="134" idx="2"/>
            <a:endCxn id="149" idx="0"/>
          </p:cNvCxnSpPr>
          <p:nvPr/>
        </p:nvCxnSpPr>
        <p:spPr>
          <a:xfrm flipH="1">
            <a:off x="4809960" y="4186080"/>
            <a:ext cx="813960" cy="672120"/>
          </a:xfrm>
          <a:prstGeom prst="straightConnector1">
            <a:avLst/>
          </a:prstGeom>
          <a:ln w="14288">
            <a:solidFill>
              <a:srgbClr val="87BDBD"/>
            </a:solidFill>
            <a:round/>
            <a:tailEnd len="sm" type="arrow" w="sm"/>
          </a:ln>
        </p:spPr>
      </p:cxnSp>
      <p:cxnSp>
        <p:nvCxnSpPr>
          <p:cNvPr id="156" name=""/>
          <p:cNvCxnSpPr>
            <a:stCxn id="134" idx="2"/>
            <a:endCxn id="150" idx="0"/>
          </p:cNvCxnSpPr>
          <p:nvPr/>
        </p:nvCxnSpPr>
        <p:spPr>
          <a:xfrm>
            <a:off x="5623560" y="4186080"/>
            <a:ext cx="948960" cy="672120"/>
          </a:xfrm>
          <a:prstGeom prst="straightConnector1">
            <a:avLst/>
          </a:prstGeom>
          <a:ln w="14288">
            <a:solidFill>
              <a:srgbClr val="87BDBD"/>
            </a:solidFill>
            <a:round/>
            <a:tailEnd len="sm" type="arrow" w="sm"/>
          </a:ln>
        </p:spPr>
      </p:cxn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EEF5F4"/>
        </a:solidFill>
      </p:bgPr>
    </p:bg>
    <p:spTree>
      <p:nvGrpSpPr>
        <p:cNvPr id="1" name=""/>
        <p:cNvGrpSpPr/>
        <p:nvPr/>
      </p:nvGrpSpPr>
      <p:grpSpPr>
        <a:xfrm>
          <a:off x="0" y="0"/>
          <a:ext cx="0" cy="0"/>
          <a:chOff x="0" y="0"/>
          <a:chExt cx="0" cy="0"/>
        </a:xfrm>
      </p:grpSpPr>
      <p:sp>
        <p:nvSpPr>
          <p:cNvPr id="157" name="Text 0"/>
          <p:cNvSpPr/>
          <p:nvPr/>
        </p:nvSpPr>
        <p:spPr>
          <a:xfrm>
            <a:off x="567000" y="347400"/>
            <a:ext cx="82292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59" strike="noStrike">
                <a:solidFill>
                  <a:srgbClr val="377E80"/>
                </a:solidFill>
                <a:effectLst/>
                <a:uFillTx/>
                <a:latin typeface="Arial"/>
                <a:ea typeface="Arial"/>
              </a:rPr>
              <a:t>SCOPE</a:t>
            </a:r>
            <a:endParaRPr lang="it-IT" sz="1050" b="0" u="none" strike="noStrike">
              <a:solidFill>
                <a:srgbClr val="000000"/>
              </a:solidFill>
              <a:effectLst/>
              <a:uFillTx/>
              <a:latin typeface="Arial"/>
            </a:endParaRPr>
          </a:p>
        </p:txBody>
      </p:sp>
      <p:sp>
        <p:nvSpPr>
          <p:cNvPr id="158" name="Text 1"/>
          <p:cNvSpPr/>
          <p:nvPr/>
        </p:nvSpPr>
        <p:spPr>
          <a:xfrm>
            <a:off x="10161720" y="347400"/>
            <a:ext cx="1462680" cy="27396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1300" b="1" u="none" spc="221" strike="noStrike">
                <a:solidFill>
                  <a:srgbClr val="142B3A"/>
                </a:solidFill>
                <a:effectLst/>
                <a:uFillTx/>
                <a:latin typeface="Arial"/>
                <a:ea typeface="Arial"/>
              </a:rPr>
              <a:t>ERA</a:t>
            </a:r>
            <a:endParaRPr lang="it-IT" sz="1300" b="0" u="none" strike="noStrike">
              <a:solidFill>
                <a:srgbClr val="000000"/>
              </a:solidFill>
              <a:effectLst/>
              <a:uFillTx/>
              <a:latin typeface="Arial"/>
            </a:endParaRPr>
          </a:p>
        </p:txBody>
      </p:sp>
      <p:sp>
        <p:nvSpPr>
          <p:cNvPr id="159" name="Text 2"/>
          <p:cNvSpPr/>
          <p:nvPr/>
        </p:nvSpPr>
        <p:spPr>
          <a:xfrm>
            <a:off x="567000" y="786240"/>
            <a:ext cx="10881000" cy="639720"/>
          </a:xfrm>
          <a:prstGeom prst="rect">
            <a:avLst/>
          </a:prstGeom>
          <a:noFill/>
          <a:ln w="0">
            <a:noFill/>
          </a:ln>
        </p:spPr>
        <p:style>
          <a:lnRef idx="0"/>
          <a:fillRef idx="0"/>
          <a:effectRef idx="0"/>
          <a:fontRef idx="minor"/>
        </p:style>
        <p:txBody>
          <a:bodyPr lIns="0" tIns="0" rIns="0" bIns="0" anchor="t">
            <a:noAutofit/>
          </a:bodyPr>
          <a:p>
            <a:pPr>
              <a:lnSpc>
                <a:spcPts val="3617"/>
              </a:lnSpc>
              <a:tabLst>
                <a:tab pos="0" algn="l"/>
              </a:tabLst>
            </a:pPr>
            <a:r>
              <a:rPr lang="it-IT" sz="3200" b="1" u="none" strike="noStrike">
                <a:solidFill>
                  <a:srgbClr val="142B3A"/>
                </a:solidFill>
                <a:effectLst/>
                <a:uFillTx/>
                <a:latin typeface="Arial"/>
                <a:ea typeface="Arial"/>
              </a:rPr>
              <a:t>What has been tested so far</a:t>
            </a:r>
            <a:endParaRPr lang="it-IT" sz="3200" b="0" u="none" strike="noStrike">
              <a:solidFill>
                <a:srgbClr val="000000"/>
              </a:solidFill>
              <a:effectLst/>
              <a:uFillTx/>
              <a:latin typeface="Arial"/>
            </a:endParaRPr>
          </a:p>
        </p:txBody>
      </p:sp>
      <p:sp>
        <p:nvSpPr>
          <p:cNvPr id="160" name="Text 3"/>
          <p:cNvSpPr/>
          <p:nvPr/>
        </p:nvSpPr>
        <p:spPr>
          <a:xfrm>
            <a:off x="567000" y="1536120"/>
            <a:ext cx="10881000" cy="45684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50" b="0" u="none" strike="noStrike">
                <a:solidFill>
                  <a:srgbClr val="556773"/>
                </a:solidFill>
                <a:effectLst/>
                <a:uFillTx/>
                <a:latin typeface="Arial"/>
                <a:ea typeface="Arial"/>
              </a:rPr>
              <a:t>ERA 1.0 is a research release candidate. These are the boundaries of the current evidence.</a:t>
            </a:r>
            <a:endParaRPr lang="it-IT" sz="1450" b="0" u="none" strike="noStrike">
              <a:solidFill>
                <a:srgbClr val="000000"/>
              </a:solidFill>
              <a:effectLst/>
              <a:uFillTx/>
              <a:latin typeface="Arial"/>
            </a:endParaRPr>
          </a:p>
        </p:txBody>
      </p:sp>
      <p:sp>
        <p:nvSpPr>
          <p:cNvPr id="161" name="Shape 4"/>
          <p:cNvSpPr/>
          <p:nvPr/>
        </p:nvSpPr>
        <p:spPr>
          <a:xfrm>
            <a:off x="566640" y="2514600"/>
            <a:ext cx="1088136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162" name="Text 5"/>
          <p:cNvSpPr/>
          <p:nvPr/>
        </p:nvSpPr>
        <p:spPr>
          <a:xfrm>
            <a:off x="567000" y="2615040"/>
            <a:ext cx="1737000" cy="38376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it-IT" sz="1250" b="1" u="none" strike="noStrike">
                <a:solidFill>
                  <a:srgbClr val="377E80"/>
                </a:solidFill>
                <a:effectLst/>
                <a:uFillTx/>
                <a:latin typeface="Arial"/>
                <a:ea typeface="Arial"/>
              </a:rPr>
              <a:t>Access</a:t>
            </a:r>
            <a:endParaRPr lang="it-IT" sz="1250" b="0" u="none" strike="noStrike">
              <a:solidFill>
                <a:srgbClr val="000000"/>
              </a:solidFill>
              <a:effectLst/>
              <a:uFillTx/>
              <a:latin typeface="Arial"/>
            </a:endParaRPr>
          </a:p>
        </p:txBody>
      </p:sp>
      <p:sp>
        <p:nvSpPr>
          <p:cNvPr id="163" name="Text 6"/>
          <p:cNvSpPr/>
          <p:nvPr/>
        </p:nvSpPr>
        <p:spPr>
          <a:xfrm>
            <a:off x="2441520" y="2615040"/>
            <a:ext cx="9006480" cy="42012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300" b="0" u="none" strike="noStrike">
                <a:solidFill>
                  <a:srgbClr val="142B3A"/>
                </a:solidFill>
                <a:effectLst/>
                <a:uFillTx/>
                <a:latin typeface="Arial"/>
                <a:ea typeface="Arial"/>
              </a:rPr>
              <a:t>Requires the model weights and internal activations, and a related pair: one version and another fine-tuned from it.</a:t>
            </a:r>
            <a:endParaRPr lang="it-IT" sz="1300" b="0" u="none" strike="noStrike">
              <a:solidFill>
                <a:srgbClr val="000000"/>
              </a:solidFill>
              <a:effectLst/>
              <a:uFillTx/>
              <a:latin typeface="Arial"/>
            </a:endParaRPr>
          </a:p>
        </p:txBody>
      </p:sp>
      <p:sp>
        <p:nvSpPr>
          <p:cNvPr id="164" name="Shape 7"/>
          <p:cNvSpPr/>
          <p:nvPr/>
        </p:nvSpPr>
        <p:spPr>
          <a:xfrm>
            <a:off x="566640" y="3172680"/>
            <a:ext cx="1088136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165" name="Text 8"/>
          <p:cNvSpPr/>
          <p:nvPr/>
        </p:nvSpPr>
        <p:spPr>
          <a:xfrm>
            <a:off x="567000" y="3273480"/>
            <a:ext cx="1737000" cy="38376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it-IT" sz="1250" b="1" u="none" strike="noStrike">
                <a:solidFill>
                  <a:srgbClr val="377E80"/>
                </a:solidFill>
                <a:effectLst/>
                <a:uFillTx/>
                <a:latin typeface="Arial"/>
                <a:ea typeface="Arial"/>
              </a:rPr>
              <a:t>Scale</a:t>
            </a:r>
            <a:endParaRPr lang="it-IT" sz="1250" b="0" u="none" strike="noStrike">
              <a:solidFill>
                <a:srgbClr val="000000"/>
              </a:solidFill>
              <a:effectLst/>
              <a:uFillTx/>
              <a:latin typeface="Arial"/>
            </a:endParaRPr>
          </a:p>
        </p:txBody>
      </p:sp>
      <p:sp>
        <p:nvSpPr>
          <p:cNvPr id="166" name="Text 9"/>
          <p:cNvSpPr/>
          <p:nvPr/>
        </p:nvSpPr>
        <p:spPr>
          <a:xfrm>
            <a:off x="2441520" y="3273480"/>
            <a:ext cx="9006480" cy="42012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300" b="0" u="none" strike="noStrike">
                <a:solidFill>
                  <a:srgbClr val="142B3A"/>
                </a:solidFill>
                <a:effectLst/>
                <a:uFillTx/>
                <a:latin typeface="Arial"/>
                <a:ea typeface="Arial"/>
              </a:rPr>
              <a:t>Tested on small models from 70M to 560M parameters, one training intervention, three runs each.</a:t>
            </a:r>
            <a:endParaRPr lang="it-IT" sz="1300" b="0" u="none" strike="noStrike">
              <a:solidFill>
                <a:srgbClr val="000000"/>
              </a:solidFill>
              <a:effectLst/>
              <a:uFillTx/>
              <a:latin typeface="Arial"/>
            </a:endParaRPr>
          </a:p>
        </p:txBody>
      </p:sp>
      <p:sp>
        <p:nvSpPr>
          <p:cNvPr id="167" name="Shape 10"/>
          <p:cNvSpPr/>
          <p:nvPr/>
        </p:nvSpPr>
        <p:spPr>
          <a:xfrm>
            <a:off x="566640" y="3831120"/>
            <a:ext cx="1088136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168" name="Text 11"/>
          <p:cNvSpPr/>
          <p:nvPr/>
        </p:nvSpPr>
        <p:spPr>
          <a:xfrm>
            <a:off x="567000" y="3931920"/>
            <a:ext cx="1737000" cy="38376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it-IT" sz="1250" b="1" u="none" strike="noStrike">
                <a:solidFill>
                  <a:srgbClr val="377E80"/>
                </a:solidFill>
                <a:effectLst/>
                <a:uFillTx/>
                <a:latin typeface="Arial"/>
                <a:ea typeface="Arial"/>
              </a:rPr>
              <a:t>Test inputs</a:t>
            </a:r>
            <a:endParaRPr lang="it-IT" sz="1250" b="0" u="none" strike="noStrike">
              <a:solidFill>
                <a:srgbClr val="000000"/>
              </a:solidFill>
              <a:effectLst/>
              <a:uFillTx/>
              <a:latin typeface="Arial"/>
            </a:endParaRPr>
          </a:p>
        </p:txBody>
      </p:sp>
      <p:sp>
        <p:nvSpPr>
          <p:cNvPr id="169" name="Text 12"/>
          <p:cNvSpPr/>
          <p:nvPr/>
        </p:nvSpPr>
        <p:spPr>
          <a:xfrm>
            <a:off x="2441520" y="3931920"/>
            <a:ext cx="9006480" cy="42012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300" b="0" u="none" strike="noStrike">
                <a:solidFill>
                  <a:srgbClr val="142B3A"/>
                </a:solidFill>
                <a:effectLst/>
                <a:uFillTx/>
                <a:latin typeface="Arial"/>
                <a:ea typeface="Arial"/>
              </a:rPr>
              <a:t>The measurements see what the chosen test inputs and concept words let them see.</a:t>
            </a:r>
            <a:endParaRPr lang="it-IT" sz="1300" b="0" u="none" strike="noStrike">
              <a:solidFill>
                <a:srgbClr val="000000"/>
              </a:solidFill>
              <a:effectLst/>
              <a:uFillTx/>
              <a:latin typeface="Arial"/>
            </a:endParaRPr>
          </a:p>
        </p:txBody>
      </p:sp>
      <p:sp>
        <p:nvSpPr>
          <p:cNvPr id="170" name="Shape 13"/>
          <p:cNvSpPr/>
          <p:nvPr/>
        </p:nvSpPr>
        <p:spPr>
          <a:xfrm>
            <a:off x="566640" y="4489560"/>
            <a:ext cx="1088136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171" name="Text 14"/>
          <p:cNvSpPr/>
          <p:nvPr/>
        </p:nvSpPr>
        <p:spPr>
          <a:xfrm>
            <a:off x="567000" y="4590360"/>
            <a:ext cx="1737000" cy="383760"/>
          </a:xfrm>
          <a:prstGeom prst="rect">
            <a:avLst/>
          </a:prstGeom>
          <a:noFill/>
          <a:ln w="0">
            <a:noFill/>
          </a:ln>
        </p:spPr>
        <p:style>
          <a:lnRef idx="0"/>
          <a:fillRef idx="0"/>
          <a:effectRef idx="0"/>
          <a:fontRef idx="minor"/>
        </p:style>
        <p:txBody>
          <a:bodyPr lIns="0" tIns="0" rIns="0" bIns="0" anchor="t">
            <a:noAutofit/>
          </a:bodyPr>
          <a:p>
            <a:pPr>
              <a:lnSpc>
                <a:spcPct val="100000"/>
              </a:lnSpc>
              <a:tabLst>
                <a:tab pos="0" algn="l"/>
              </a:tabLst>
            </a:pPr>
            <a:r>
              <a:rPr lang="it-IT" sz="1250" b="1" u="none" strike="noStrike">
                <a:solidFill>
                  <a:srgbClr val="377E80"/>
                </a:solidFill>
                <a:effectLst/>
                <a:uFillTx/>
                <a:latin typeface="Arial"/>
                <a:ea typeface="Arial"/>
              </a:rPr>
              <a:t>Comparability</a:t>
            </a:r>
            <a:endParaRPr lang="it-IT" sz="1250" b="0" u="none" strike="noStrike">
              <a:solidFill>
                <a:srgbClr val="000000"/>
              </a:solidFill>
              <a:effectLst/>
              <a:uFillTx/>
              <a:latin typeface="Arial"/>
            </a:endParaRPr>
          </a:p>
        </p:txBody>
      </p:sp>
      <p:sp>
        <p:nvSpPr>
          <p:cNvPr id="172" name="Text 15"/>
          <p:cNvSpPr/>
          <p:nvPr/>
        </p:nvSpPr>
        <p:spPr>
          <a:xfrm>
            <a:off x="2441520" y="4590360"/>
            <a:ext cx="9006480" cy="420120"/>
          </a:xfrm>
          <a:prstGeom prst="rect">
            <a:avLst/>
          </a:prstGeom>
          <a:noFill/>
          <a:ln w="0">
            <a:noFill/>
          </a:ln>
        </p:spPr>
        <p:style>
          <a:lnRef idx="0"/>
          <a:fillRef idx="0"/>
          <a:effectRef idx="0"/>
          <a:fontRef idx="minor"/>
        </p:style>
        <p:txBody>
          <a:bodyPr lIns="0" tIns="0" rIns="0" bIns="0" anchor="t">
            <a:noAutofit/>
          </a:bodyPr>
          <a:p>
            <a:pPr>
              <a:lnSpc>
                <a:spcPts val="1701"/>
              </a:lnSpc>
              <a:tabLst>
                <a:tab pos="0" algn="l"/>
              </a:tabLst>
            </a:pPr>
            <a:r>
              <a:rPr lang="it-IT" sz="1300" b="0" u="none" strike="noStrike">
                <a:solidFill>
                  <a:srgbClr val="142B3A"/>
                </a:solidFill>
                <a:effectLst/>
                <a:uFillTx/>
                <a:latin typeface="Arial"/>
                <a:ea typeface="Arial"/>
              </a:rPr>
              <a:t>Internal-change scores are not a universal scale across model architectures.</a:t>
            </a:r>
            <a:endParaRPr lang="it-IT" sz="1300" b="0" u="none" strike="noStrike">
              <a:solidFill>
                <a:srgbClr val="000000"/>
              </a:solidFill>
              <a:effectLst/>
              <a:uFillTx/>
              <a:latin typeface="Arial"/>
            </a:endParaRPr>
          </a:p>
        </p:txBody>
      </p:sp>
      <p:sp>
        <p:nvSpPr>
          <p:cNvPr id="173" name="Shape 16"/>
          <p:cNvSpPr/>
          <p:nvPr/>
        </p:nvSpPr>
        <p:spPr>
          <a:xfrm>
            <a:off x="566640" y="5148000"/>
            <a:ext cx="1088136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174" name="Text 17"/>
          <p:cNvSpPr/>
          <p:nvPr/>
        </p:nvSpPr>
        <p:spPr>
          <a:xfrm>
            <a:off x="567000" y="5577840"/>
            <a:ext cx="10881000" cy="31068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450" b="1" u="none" strike="noStrike">
                <a:solidFill>
                  <a:srgbClr val="142B3A"/>
                </a:solidFill>
                <a:effectLst/>
                <a:uFillTx/>
                <a:latin typeface="Arial"/>
                <a:ea typeface="Arial"/>
              </a:rPr>
              <a:t>These are measurements on declared inputs, not a general safety certificate.</a:t>
            </a:r>
            <a:endParaRPr lang="it-IT" sz="1450" b="0" u="none" strike="noStrike">
              <a:solidFill>
                <a:srgbClr val="000000"/>
              </a:solidFill>
              <a:effectLst/>
              <a:uFillTx/>
              <a:latin typeface="Arial"/>
            </a:endParaRPr>
          </a:p>
        </p:txBody>
      </p:sp>
      <p:sp>
        <p:nvSpPr>
          <p:cNvPr id="175" name="Text 18"/>
          <p:cNvSpPr/>
          <p:nvPr/>
        </p:nvSpPr>
        <p:spPr>
          <a:xfrm>
            <a:off x="567000" y="5961960"/>
            <a:ext cx="10881000" cy="2923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200" b="0" u="none" strike="noStrike">
                <a:solidFill>
                  <a:srgbClr val="556773"/>
                </a:solidFill>
                <a:effectLst/>
                <a:uFillTx/>
                <a:latin typeface="Arial"/>
                <a:ea typeface="Arial"/>
              </a:rPr>
              <a:t>The calibration controls, and the interpretations later corrected, are documented in the repository.</a:t>
            </a:r>
            <a:endParaRPr lang="it-IT" sz="1200" b="0" u="none" strike="noStrike">
              <a:solidFill>
                <a:srgbClr val="000000"/>
              </a:solidFill>
              <a:effectLst/>
              <a:uFillTx/>
              <a:latin typeface="Arial"/>
            </a:endParaRPr>
          </a:p>
        </p:txBody>
      </p:sp>
      <p:sp>
        <p:nvSpPr>
          <p:cNvPr id="176" name="Text 19">
            <a:hlinkClick r:id="rId1"/>
          </p:cNvPr>
          <p:cNvSpPr/>
          <p:nvPr/>
        </p:nvSpPr>
        <p:spPr>
          <a:xfrm>
            <a:off x="567000" y="6400800"/>
            <a:ext cx="45716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sng" strike="noStrike">
                <a:solidFill>
                  <a:srgbClr val="0563C1"/>
                </a:solidFill>
                <a:effectLst/>
                <a:uFillTx/>
                <a:latin typeface="Arial"/>
                <a:ea typeface="Arial"/>
                <a:hlinkClick r:id="rId2"/>
              </a:rPr>
              <a:t>github.com/blacklotus1985/era-screening</a:t>
            </a:r>
            <a:endParaRPr lang="it-IT" sz="900" b="0" u="none" strike="noStrike">
              <a:solidFill>
                <a:srgbClr val="000000"/>
              </a:solidFill>
              <a:effectLst/>
              <a:uFillTx/>
              <a:latin typeface="Arial"/>
            </a:endParaRPr>
          </a:p>
        </p:txBody>
      </p:sp>
      <p:sp>
        <p:nvSpPr>
          <p:cNvPr id="177" name="Text 20"/>
          <p:cNvSpPr/>
          <p:nvPr/>
        </p:nvSpPr>
        <p:spPr>
          <a:xfrm>
            <a:off x="10253160" y="6400800"/>
            <a:ext cx="1371240" cy="237240"/>
          </a:xfrm>
          <a:prstGeom prst="rect">
            <a:avLst/>
          </a:prstGeom>
          <a:noFill/>
          <a:ln w="0">
            <a:noFill/>
          </a:ln>
        </p:spPr>
        <p:style>
          <a:lnRef idx="0"/>
          <a:fillRef idx="0"/>
          <a:effectRef idx="0"/>
          <a:fontRef idx="minor"/>
        </p:style>
        <p:txBody>
          <a:bodyPr lIns="0" tIns="0" rIns="0" bIns="0" anchor="ctr">
            <a:noAutofit/>
          </a:bodyPr>
          <a:p>
            <a:pPr algn="r">
              <a:lnSpc>
                <a:spcPct val="100000"/>
              </a:lnSpc>
              <a:tabLst>
                <a:tab pos="0" algn="l"/>
              </a:tabLst>
            </a:pPr>
            <a:r>
              <a:rPr lang="it-IT" sz="900" b="0" u="none" strike="noStrike">
                <a:solidFill>
                  <a:srgbClr val="556773"/>
                </a:solidFill>
                <a:effectLst/>
                <a:uFillTx/>
                <a:latin typeface="Arial"/>
                <a:ea typeface="Arial"/>
              </a:rPr>
              <a:t>8 / 9</a:t>
            </a:r>
            <a:endParaRPr lang="it-IT"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8" name="Shape 0"/>
          <p:cNvSpPr/>
          <p:nvPr/>
        </p:nvSpPr>
        <p:spPr>
          <a:xfrm>
            <a:off x="0" y="0"/>
            <a:ext cx="4983120" cy="6857640"/>
          </a:xfrm>
          <a:prstGeom prst="rect">
            <a:avLst/>
          </a:prstGeom>
          <a:solidFill>
            <a:srgbClr val="142B3A"/>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79" name="Text 1"/>
          <p:cNvSpPr/>
          <p:nvPr/>
        </p:nvSpPr>
        <p:spPr>
          <a:xfrm>
            <a:off x="567000" y="457200"/>
            <a:ext cx="384012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050" b="1" u="none" spc="139" strike="noStrike">
                <a:solidFill>
                  <a:srgbClr val="86BBBA"/>
                </a:solidFill>
                <a:effectLst/>
                <a:uFillTx/>
                <a:latin typeface="Arial"/>
                <a:ea typeface="Arial"/>
              </a:rPr>
              <a:t>THE REPOSITORY</a:t>
            </a:r>
            <a:endParaRPr lang="it-IT" sz="1050" b="0" u="none" strike="noStrike">
              <a:solidFill>
                <a:srgbClr val="000000"/>
              </a:solidFill>
              <a:effectLst/>
              <a:uFillTx/>
              <a:latin typeface="Arial"/>
            </a:endParaRPr>
          </a:p>
        </p:txBody>
      </p:sp>
      <p:sp>
        <p:nvSpPr>
          <p:cNvPr id="180" name="Text 2"/>
          <p:cNvSpPr/>
          <p:nvPr/>
        </p:nvSpPr>
        <p:spPr>
          <a:xfrm>
            <a:off x="567000" y="1417320"/>
            <a:ext cx="4023000" cy="2377080"/>
          </a:xfrm>
          <a:prstGeom prst="rect">
            <a:avLst/>
          </a:prstGeom>
          <a:noFill/>
          <a:ln w="0">
            <a:noFill/>
          </a:ln>
        </p:spPr>
        <p:style>
          <a:lnRef idx="0"/>
          <a:fillRef idx="0"/>
          <a:effectRef idx="0"/>
          <a:fontRef idx="minor"/>
        </p:style>
        <p:txBody>
          <a:bodyPr lIns="0" tIns="0" rIns="0" bIns="0" anchor="t">
            <a:noAutofit/>
          </a:bodyPr>
          <a:p>
            <a:pPr>
              <a:lnSpc>
                <a:spcPts val="3900"/>
              </a:lnSpc>
              <a:tabLst>
                <a:tab pos="0" algn="l"/>
              </a:tabLst>
            </a:pPr>
            <a:r>
              <a:rPr lang="it-IT" sz="3000" b="1" u="none" strike="noStrike">
                <a:solidFill>
                  <a:srgbClr val="FFFFFF"/>
                </a:solidFill>
                <a:effectLst/>
                <a:uFillTx/>
                <a:latin typeface="Arial"/>
                <a:ea typeface="Arial"/>
              </a:rPr>
              <a:t>The code,</a:t>
            </a:r>
            <a:endParaRPr lang="it-IT" sz="3000" b="0" u="none" strike="noStrike">
              <a:solidFill>
                <a:srgbClr val="000000"/>
              </a:solidFill>
              <a:effectLst/>
              <a:uFillTx/>
              <a:latin typeface="Arial"/>
            </a:endParaRPr>
          </a:p>
          <a:p>
            <a:pPr>
              <a:lnSpc>
                <a:spcPts val="3900"/>
              </a:lnSpc>
              <a:tabLst>
                <a:tab pos="0" algn="l"/>
              </a:tabLst>
            </a:pPr>
            <a:r>
              <a:rPr lang="it-IT" sz="3000" b="1" u="none" strike="noStrike">
                <a:solidFill>
                  <a:srgbClr val="FFFFFF"/>
                </a:solidFill>
                <a:effectLst/>
                <a:uFillTx/>
                <a:latin typeface="Arial"/>
                <a:ea typeface="Arial"/>
              </a:rPr>
              <a:t>the results and</a:t>
            </a:r>
            <a:endParaRPr lang="it-IT" sz="3000" b="0" u="none" strike="noStrike">
              <a:solidFill>
                <a:srgbClr val="000000"/>
              </a:solidFill>
              <a:effectLst/>
              <a:uFillTx/>
              <a:latin typeface="Arial"/>
            </a:endParaRPr>
          </a:p>
          <a:p>
            <a:pPr>
              <a:lnSpc>
                <a:spcPts val="3900"/>
              </a:lnSpc>
              <a:tabLst>
                <a:tab pos="0" algn="l"/>
              </a:tabLst>
            </a:pPr>
            <a:r>
              <a:rPr lang="it-IT" sz="3000" b="1" u="none" strike="noStrike">
                <a:solidFill>
                  <a:srgbClr val="FFFFFF"/>
                </a:solidFill>
                <a:effectLst/>
                <a:uFillTx/>
                <a:latin typeface="Arial"/>
                <a:ea typeface="Arial"/>
              </a:rPr>
              <a:t>the documentation</a:t>
            </a:r>
            <a:endParaRPr lang="it-IT" sz="3000" b="0" u="none" strike="noStrike">
              <a:solidFill>
                <a:srgbClr val="000000"/>
              </a:solidFill>
              <a:effectLst/>
              <a:uFillTx/>
              <a:latin typeface="Arial"/>
            </a:endParaRPr>
          </a:p>
          <a:p>
            <a:pPr>
              <a:lnSpc>
                <a:spcPts val="3900"/>
              </a:lnSpc>
              <a:tabLst>
                <a:tab pos="0" algn="l"/>
              </a:tabLst>
            </a:pPr>
            <a:r>
              <a:rPr lang="it-IT" sz="3000" b="1" u="none" strike="noStrike">
                <a:solidFill>
                  <a:srgbClr val="FFFFFF"/>
                </a:solidFill>
                <a:effectLst/>
                <a:uFillTx/>
                <a:latin typeface="Arial"/>
                <a:ea typeface="Arial"/>
              </a:rPr>
              <a:t>are all here.</a:t>
            </a:r>
            <a:endParaRPr lang="it-IT" sz="3000" b="0" u="none" strike="noStrike">
              <a:solidFill>
                <a:srgbClr val="000000"/>
              </a:solidFill>
              <a:effectLst/>
              <a:uFillTx/>
              <a:latin typeface="Arial"/>
            </a:endParaRPr>
          </a:p>
        </p:txBody>
      </p:sp>
      <p:sp>
        <p:nvSpPr>
          <p:cNvPr id="181" name="Shape 3"/>
          <p:cNvSpPr/>
          <p:nvPr/>
        </p:nvSpPr>
        <p:spPr>
          <a:xfrm>
            <a:off x="567000" y="3977640"/>
            <a:ext cx="3885840" cy="566640"/>
          </a:xfrm>
          <a:prstGeom prst="roundRect">
            <a:avLst>
              <a:gd name="adj" fmla="val 12903"/>
            </a:avLst>
          </a:prstGeom>
          <a:solidFill>
            <a:srgbClr val="377E80"/>
          </a:solidFill>
          <a:ln w="0">
            <a:noFill/>
          </a:ln>
        </p:spPr>
        <p:style>
          <a:lnRef idx="0"/>
          <a:fillRef idx="0"/>
          <a:effectRef idx="0"/>
          <a:fontRef idx="minor"/>
        </p:style>
        <p:txBody>
          <a:bodyPr lIns="90000" tIns="45000" rIns="90000" bIns="45000" anchor="t">
            <a:noAutofit/>
          </a:bodyPr>
          <a:p>
            <a:endParaRPr lang="it-IT" sz="1800" b="0" u="none" strike="noStrike">
              <a:solidFill>
                <a:srgbClr val="FFFFFF"/>
              </a:solidFill>
              <a:effectLst/>
              <a:uFillTx/>
              <a:latin typeface="Arial"/>
            </a:endParaRPr>
          </a:p>
        </p:txBody>
      </p:sp>
      <p:sp>
        <p:nvSpPr>
          <p:cNvPr id="182" name="Text 4">
            <a:hlinkClick r:id="rId1"/>
          </p:cNvPr>
          <p:cNvSpPr/>
          <p:nvPr/>
        </p:nvSpPr>
        <p:spPr>
          <a:xfrm>
            <a:off x="567000" y="3977640"/>
            <a:ext cx="3885840" cy="566640"/>
          </a:xfrm>
          <a:prstGeom prst="rect">
            <a:avLst/>
          </a:prstGeom>
          <a:noFill/>
          <a:ln w="0">
            <a:noFill/>
          </a:ln>
        </p:spPr>
        <p:style>
          <a:lnRef idx="0"/>
          <a:fillRef idx="0"/>
          <a:effectRef idx="0"/>
          <a:fontRef idx="minor"/>
        </p:style>
        <p:txBody>
          <a:bodyPr lIns="90000" tIns="45000" rIns="90000" bIns="45000" anchor="ctr">
            <a:noAutofit/>
          </a:bodyPr>
          <a:p>
            <a:pPr algn="ctr">
              <a:lnSpc>
                <a:spcPct val="100000"/>
              </a:lnSpc>
              <a:tabLst>
                <a:tab pos="0" algn="l"/>
              </a:tabLst>
            </a:pPr>
            <a:r>
              <a:rPr lang="it-IT" sz="1250" b="1" u="sng" strike="noStrike">
                <a:solidFill>
                  <a:srgbClr val="0563C1"/>
                </a:solidFill>
                <a:effectLst/>
                <a:uFillTx/>
                <a:latin typeface="Arial"/>
                <a:ea typeface="Arial"/>
                <a:hlinkClick r:id="rId2"/>
              </a:rPr>
              <a:t>github.com/blacklotus1985/era-screening</a:t>
            </a:r>
            <a:endParaRPr lang="it-IT" sz="1250" b="0" u="none" strike="noStrike">
              <a:solidFill>
                <a:srgbClr val="000000"/>
              </a:solidFill>
              <a:effectLst/>
              <a:uFillTx/>
              <a:latin typeface="Arial"/>
            </a:endParaRPr>
          </a:p>
        </p:txBody>
      </p:sp>
      <p:sp>
        <p:nvSpPr>
          <p:cNvPr id="183" name="Text 5"/>
          <p:cNvSpPr/>
          <p:nvPr/>
        </p:nvSpPr>
        <p:spPr>
          <a:xfrm>
            <a:off x="567000" y="4800600"/>
            <a:ext cx="3794400" cy="914040"/>
          </a:xfrm>
          <a:prstGeom prst="rect">
            <a:avLst/>
          </a:prstGeom>
          <a:noFill/>
          <a:ln w="0">
            <a:noFill/>
          </a:ln>
        </p:spPr>
        <p:style>
          <a:lnRef idx="0"/>
          <a:fillRef idx="0"/>
          <a:effectRef idx="0"/>
          <a:fontRef idx="minor"/>
        </p:style>
        <p:txBody>
          <a:bodyPr lIns="0" tIns="0" rIns="0" bIns="0" anchor="t">
            <a:noAutofit/>
          </a:bodyPr>
          <a:p>
            <a:pPr>
              <a:lnSpc>
                <a:spcPts val="1800"/>
              </a:lnSpc>
              <a:tabLst>
                <a:tab pos="0" algn="l"/>
              </a:tabLst>
            </a:pPr>
            <a:r>
              <a:rPr lang="it-IT" sz="1250" b="0" u="none" strike="noStrike">
                <a:solidFill>
                  <a:srgbClr val="D6E7E8"/>
                </a:solidFill>
                <a:effectLst/>
                <a:uFillTx/>
                <a:latin typeface="Arial"/>
                <a:ea typeface="Arial"/>
              </a:rPr>
              <a:t>Apache 2.0. Every number in these slides comes from a file in the repository, and the summary check runs without a GPU.</a:t>
            </a:r>
            <a:endParaRPr lang="it-IT" sz="1250" b="0" u="none" strike="noStrike">
              <a:solidFill>
                <a:srgbClr val="000000"/>
              </a:solidFill>
              <a:effectLst/>
              <a:uFillTx/>
              <a:latin typeface="Arial"/>
            </a:endParaRPr>
          </a:p>
        </p:txBody>
      </p:sp>
      <p:sp>
        <p:nvSpPr>
          <p:cNvPr id="184" name="Text 6"/>
          <p:cNvSpPr/>
          <p:nvPr/>
        </p:nvSpPr>
        <p:spPr>
          <a:xfrm>
            <a:off x="567000" y="6400800"/>
            <a:ext cx="1828440" cy="23724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900" b="0" u="none" strike="noStrike">
                <a:solidFill>
                  <a:srgbClr val="7F98A5"/>
                </a:solidFill>
                <a:effectLst/>
                <a:uFillTx/>
                <a:latin typeface="Arial"/>
                <a:ea typeface="Arial"/>
              </a:rPr>
              <a:t>9 / 9</a:t>
            </a:r>
            <a:endParaRPr lang="it-IT" sz="900" b="0" u="none" strike="noStrike">
              <a:solidFill>
                <a:srgbClr val="000000"/>
              </a:solidFill>
              <a:effectLst/>
              <a:uFillTx/>
              <a:latin typeface="Arial"/>
            </a:endParaRPr>
          </a:p>
        </p:txBody>
      </p:sp>
      <p:sp>
        <p:nvSpPr>
          <p:cNvPr id="185" name="Text 7"/>
          <p:cNvSpPr/>
          <p:nvPr/>
        </p:nvSpPr>
        <p:spPr>
          <a:xfrm>
            <a:off x="5577840" y="1783080"/>
            <a:ext cx="6053040" cy="41112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2200" b="1" u="none" strike="noStrike">
                <a:solidFill>
                  <a:srgbClr val="142B3A"/>
                </a:solidFill>
                <a:effectLst/>
                <a:uFillTx/>
                <a:latin typeface="Arial"/>
                <a:ea typeface="Arial"/>
              </a:rPr>
              <a:t>I would like to hear what people think</a:t>
            </a:r>
            <a:endParaRPr lang="it-IT" sz="2200" b="0" u="none" strike="noStrike">
              <a:solidFill>
                <a:srgbClr val="000000"/>
              </a:solidFill>
              <a:effectLst/>
              <a:uFillTx/>
              <a:latin typeface="Arial"/>
            </a:endParaRPr>
          </a:p>
        </p:txBody>
      </p:sp>
      <p:sp>
        <p:nvSpPr>
          <p:cNvPr id="186" name="Shape 8"/>
          <p:cNvSpPr/>
          <p:nvPr/>
        </p:nvSpPr>
        <p:spPr>
          <a:xfrm>
            <a:off x="5596200" y="2642760"/>
            <a:ext cx="91080" cy="91080"/>
          </a:xfrm>
          <a:prstGeom prst="ellipse">
            <a:avLst/>
          </a:prstGeom>
          <a:solidFill>
            <a:srgbClr val="377E80"/>
          </a:solidFill>
          <a:ln w="0">
            <a:noFill/>
          </a:ln>
        </p:spPr>
        <p:style>
          <a:lnRef idx="0"/>
          <a:fillRef idx="0"/>
          <a:effectRef idx="0"/>
          <a:fontRef idx="minor"/>
        </p:style>
        <p:txBody>
          <a:bodyPr lIns="90000" tIns="19440" rIns="90000" bIns="19440" anchor="t">
            <a:noAutofit/>
          </a:bodyPr>
          <a:p>
            <a:endParaRPr lang="it-IT" sz="1800" b="0" u="none" strike="noStrike">
              <a:solidFill>
                <a:srgbClr val="FFFFFF"/>
              </a:solidFill>
              <a:effectLst/>
              <a:uFillTx/>
              <a:latin typeface="Arial"/>
            </a:endParaRPr>
          </a:p>
        </p:txBody>
      </p:sp>
      <p:sp>
        <p:nvSpPr>
          <p:cNvPr id="187" name="Text 9"/>
          <p:cNvSpPr/>
          <p:nvPr/>
        </p:nvSpPr>
        <p:spPr>
          <a:xfrm>
            <a:off x="5852160" y="2514600"/>
            <a:ext cx="5778720" cy="667080"/>
          </a:xfrm>
          <a:prstGeom prst="rect">
            <a:avLst/>
          </a:prstGeom>
          <a:noFill/>
          <a:ln w="0">
            <a:noFill/>
          </a:ln>
        </p:spPr>
        <p:style>
          <a:lnRef idx="0"/>
          <a:fillRef idx="0"/>
          <a:effectRef idx="0"/>
          <a:fontRef idx="minor"/>
        </p:style>
        <p:txBody>
          <a:bodyPr lIns="0" tIns="0" rIns="0" bIns="0" anchor="t">
            <a:noAutofit/>
          </a:bodyPr>
          <a:p>
            <a:pPr>
              <a:lnSpc>
                <a:spcPts val="1942"/>
              </a:lnSpc>
              <a:tabLst>
                <a:tab pos="0" algn="l"/>
              </a:tabLst>
            </a:pPr>
            <a:r>
              <a:rPr lang="it-IT" sz="1450" b="0" u="none" strike="noStrike">
                <a:solidFill>
                  <a:srgbClr val="142B3A"/>
                </a:solidFill>
                <a:effectLst/>
                <a:uFillTx/>
                <a:latin typeface="Arial"/>
                <a:ea typeface="Arial"/>
              </a:rPr>
              <a:t>Feedback on the measurements and on how I am reading them.</a:t>
            </a:r>
            <a:endParaRPr lang="it-IT" sz="1450" b="0" u="none" strike="noStrike">
              <a:solidFill>
                <a:srgbClr val="000000"/>
              </a:solidFill>
              <a:effectLst/>
              <a:uFillTx/>
              <a:latin typeface="Arial"/>
            </a:endParaRPr>
          </a:p>
        </p:txBody>
      </p:sp>
      <p:sp>
        <p:nvSpPr>
          <p:cNvPr id="188" name="Shape 10"/>
          <p:cNvSpPr/>
          <p:nvPr/>
        </p:nvSpPr>
        <p:spPr>
          <a:xfrm>
            <a:off x="5596200" y="3355920"/>
            <a:ext cx="91080" cy="91080"/>
          </a:xfrm>
          <a:prstGeom prst="ellipse">
            <a:avLst/>
          </a:prstGeom>
          <a:solidFill>
            <a:srgbClr val="377E80"/>
          </a:solidFill>
          <a:ln w="0">
            <a:noFill/>
          </a:ln>
        </p:spPr>
        <p:style>
          <a:lnRef idx="0"/>
          <a:fillRef idx="0"/>
          <a:effectRef idx="0"/>
          <a:fontRef idx="minor"/>
        </p:style>
        <p:txBody>
          <a:bodyPr lIns="90000" tIns="19440" rIns="90000" bIns="19440" anchor="t">
            <a:noAutofit/>
          </a:bodyPr>
          <a:p>
            <a:endParaRPr lang="it-IT" sz="1800" b="0" u="none" strike="noStrike">
              <a:solidFill>
                <a:srgbClr val="FFFFFF"/>
              </a:solidFill>
              <a:effectLst/>
              <a:uFillTx/>
              <a:latin typeface="Arial"/>
            </a:endParaRPr>
          </a:p>
        </p:txBody>
      </p:sp>
      <p:sp>
        <p:nvSpPr>
          <p:cNvPr id="189" name="Text 11"/>
          <p:cNvSpPr/>
          <p:nvPr/>
        </p:nvSpPr>
        <p:spPr>
          <a:xfrm>
            <a:off x="5852160" y="3227760"/>
            <a:ext cx="5778720" cy="667080"/>
          </a:xfrm>
          <a:prstGeom prst="rect">
            <a:avLst/>
          </a:prstGeom>
          <a:noFill/>
          <a:ln w="0">
            <a:noFill/>
          </a:ln>
        </p:spPr>
        <p:style>
          <a:lnRef idx="0"/>
          <a:fillRef idx="0"/>
          <a:effectRef idx="0"/>
          <a:fontRef idx="minor"/>
        </p:style>
        <p:txBody>
          <a:bodyPr lIns="0" tIns="0" rIns="0" bIns="0" anchor="t">
            <a:noAutofit/>
          </a:bodyPr>
          <a:p>
            <a:pPr>
              <a:lnSpc>
                <a:spcPts val="1942"/>
              </a:lnSpc>
              <a:tabLst>
                <a:tab pos="0" algn="l"/>
              </a:tabLst>
            </a:pPr>
            <a:r>
              <a:rPr lang="it-IT" sz="1450" b="0" u="none" strike="noStrike">
                <a:solidFill>
                  <a:srgbClr val="142B3A"/>
                </a:solidFill>
                <a:effectLst/>
                <a:uFillTx/>
                <a:latin typeface="Arial"/>
                <a:ea typeface="Arial"/>
              </a:rPr>
              <a:t>A control that would help test the approach.</a:t>
            </a:r>
            <a:endParaRPr lang="it-IT" sz="1450" b="0" u="none" strike="noStrike">
              <a:solidFill>
                <a:srgbClr val="000000"/>
              </a:solidFill>
              <a:effectLst/>
              <a:uFillTx/>
              <a:latin typeface="Arial"/>
            </a:endParaRPr>
          </a:p>
        </p:txBody>
      </p:sp>
      <p:sp>
        <p:nvSpPr>
          <p:cNvPr id="190" name="Shape 12"/>
          <p:cNvSpPr/>
          <p:nvPr/>
        </p:nvSpPr>
        <p:spPr>
          <a:xfrm>
            <a:off x="5596200" y="4069080"/>
            <a:ext cx="91080" cy="91080"/>
          </a:xfrm>
          <a:prstGeom prst="ellipse">
            <a:avLst/>
          </a:prstGeom>
          <a:solidFill>
            <a:srgbClr val="377E80"/>
          </a:solidFill>
          <a:ln w="0">
            <a:noFill/>
          </a:ln>
        </p:spPr>
        <p:style>
          <a:lnRef idx="0"/>
          <a:fillRef idx="0"/>
          <a:effectRef idx="0"/>
          <a:fontRef idx="minor"/>
        </p:style>
        <p:txBody>
          <a:bodyPr lIns="90000" tIns="19440" rIns="90000" bIns="19440" anchor="t">
            <a:noAutofit/>
          </a:bodyPr>
          <a:p>
            <a:endParaRPr lang="it-IT" sz="1800" b="0" u="none" strike="noStrike">
              <a:solidFill>
                <a:srgbClr val="FFFFFF"/>
              </a:solidFill>
              <a:effectLst/>
              <a:uFillTx/>
              <a:latin typeface="Arial"/>
            </a:endParaRPr>
          </a:p>
        </p:txBody>
      </p:sp>
      <p:sp>
        <p:nvSpPr>
          <p:cNvPr id="191" name="Text 13"/>
          <p:cNvSpPr/>
          <p:nvPr/>
        </p:nvSpPr>
        <p:spPr>
          <a:xfrm>
            <a:off x="5852160" y="3940920"/>
            <a:ext cx="5778720" cy="667080"/>
          </a:xfrm>
          <a:prstGeom prst="rect">
            <a:avLst/>
          </a:prstGeom>
          <a:noFill/>
          <a:ln w="0">
            <a:noFill/>
          </a:ln>
        </p:spPr>
        <p:style>
          <a:lnRef idx="0"/>
          <a:fillRef idx="0"/>
          <a:effectRef idx="0"/>
          <a:fontRef idx="minor"/>
        </p:style>
        <p:txBody>
          <a:bodyPr lIns="0" tIns="0" rIns="0" bIns="0" anchor="t">
            <a:noAutofit/>
          </a:bodyPr>
          <a:p>
            <a:pPr>
              <a:lnSpc>
                <a:spcPts val="1942"/>
              </a:lnSpc>
              <a:tabLst>
                <a:tab pos="0" algn="l"/>
              </a:tabLst>
            </a:pPr>
            <a:r>
              <a:rPr lang="it-IT" sz="1450" b="0" u="none" strike="noStrike">
                <a:solidFill>
                  <a:srgbClr val="142B3A"/>
                </a:solidFill>
                <a:effectLst/>
                <a:uFillTx/>
                <a:latin typeface="Arial"/>
                <a:ea typeface="Arial"/>
              </a:rPr>
              <a:t>Another model pair or another training intervention to try.</a:t>
            </a:r>
            <a:endParaRPr lang="it-IT" sz="1450" b="0" u="none" strike="noStrike">
              <a:solidFill>
                <a:srgbClr val="000000"/>
              </a:solidFill>
              <a:effectLst/>
              <a:uFillTx/>
              <a:latin typeface="Arial"/>
            </a:endParaRPr>
          </a:p>
        </p:txBody>
      </p:sp>
      <p:sp>
        <p:nvSpPr>
          <p:cNvPr id="192" name="Text 14"/>
          <p:cNvSpPr/>
          <p:nvPr/>
        </p:nvSpPr>
        <p:spPr>
          <a:xfrm>
            <a:off x="5577840" y="4846320"/>
            <a:ext cx="6053040" cy="639720"/>
          </a:xfrm>
          <a:prstGeom prst="rect">
            <a:avLst/>
          </a:prstGeom>
          <a:noFill/>
          <a:ln w="0">
            <a:noFill/>
          </a:ln>
        </p:spPr>
        <p:style>
          <a:lnRef idx="0"/>
          <a:fillRef idx="0"/>
          <a:effectRef idx="0"/>
          <a:fontRef idx="minor"/>
        </p:style>
        <p:txBody>
          <a:bodyPr lIns="0" tIns="0" rIns="0" bIns="0" anchor="t">
            <a:noAutofit/>
          </a:bodyPr>
          <a:p>
            <a:pPr>
              <a:lnSpc>
                <a:spcPts val="2001"/>
              </a:lnSpc>
              <a:tabLst>
                <a:tab pos="0" algn="l"/>
              </a:tabLst>
            </a:pPr>
            <a:r>
              <a:rPr lang="it-IT" sz="1400" b="0" u="none" strike="noStrike">
                <a:solidFill>
                  <a:srgbClr val="556773"/>
                </a:solidFill>
                <a:effectLst/>
                <a:uFillTx/>
                <a:latin typeface="Arial"/>
                <a:ea typeface="Arial"/>
              </a:rPr>
              <a:t>I would be glad to work on one of these together, and happy for it to be passed on to anyone asking similar questions.</a:t>
            </a:r>
            <a:endParaRPr lang="it-IT" sz="1400" b="0" u="none" strike="noStrike">
              <a:solidFill>
                <a:srgbClr val="000000"/>
              </a:solidFill>
              <a:effectLst/>
              <a:uFillTx/>
              <a:latin typeface="Arial"/>
            </a:endParaRPr>
          </a:p>
        </p:txBody>
      </p:sp>
      <p:sp>
        <p:nvSpPr>
          <p:cNvPr id="193" name="Shape 15"/>
          <p:cNvSpPr/>
          <p:nvPr/>
        </p:nvSpPr>
        <p:spPr>
          <a:xfrm>
            <a:off x="5577840" y="6035040"/>
            <a:ext cx="6053040" cy="360"/>
          </a:xfrm>
          <a:prstGeom prst="line">
            <a:avLst/>
          </a:prstGeom>
          <a:ln w="9525">
            <a:solidFill>
              <a:srgbClr val="DCE7E7"/>
            </a:solidFill>
            <a:round/>
          </a:ln>
        </p:spPr>
        <p:style>
          <a:lnRef idx="0"/>
          <a:fillRef idx="0"/>
          <a:effectRef idx="0"/>
          <a:fontRef idx="minor"/>
        </p:style>
        <p:txBody>
          <a:bodyPr lIns="90000" tIns="-44640" rIns="90000" bIns="-44640" anchor="t" anchorCtr="1">
            <a:noAutofit/>
          </a:bodyPr>
          <a:p>
            <a:endParaRPr lang="it-IT" sz="1800" b="0" u="none" strike="noStrike">
              <a:solidFill>
                <a:srgbClr val="000000"/>
              </a:solidFill>
              <a:effectLst/>
              <a:uFillTx/>
              <a:latin typeface="Arial"/>
            </a:endParaRPr>
          </a:p>
        </p:txBody>
      </p:sp>
      <p:sp>
        <p:nvSpPr>
          <p:cNvPr id="194" name="Text 16"/>
          <p:cNvSpPr/>
          <p:nvPr/>
        </p:nvSpPr>
        <p:spPr>
          <a:xfrm>
            <a:off x="5577840" y="6163200"/>
            <a:ext cx="6053040" cy="273960"/>
          </a:xfrm>
          <a:prstGeom prst="rect">
            <a:avLst/>
          </a:prstGeom>
          <a:noFill/>
          <a:ln w="0">
            <a:noFill/>
          </a:ln>
        </p:spPr>
        <p:style>
          <a:lnRef idx="0"/>
          <a:fillRef idx="0"/>
          <a:effectRef idx="0"/>
          <a:fontRef idx="minor"/>
        </p:style>
        <p:txBody>
          <a:bodyPr lIns="0" tIns="0" rIns="0" bIns="0" anchor="ctr">
            <a:noAutofit/>
          </a:bodyPr>
          <a:p>
            <a:pPr>
              <a:lnSpc>
                <a:spcPct val="100000"/>
              </a:lnSpc>
              <a:tabLst>
                <a:tab pos="0" algn="l"/>
              </a:tabLst>
            </a:pPr>
            <a:r>
              <a:rPr lang="it-IT" sz="1150" b="0" u="none" strike="noStrike">
                <a:solidFill>
                  <a:srgbClr val="556773"/>
                </a:solidFill>
                <a:effectLst/>
                <a:uFillTx/>
                <a:latin typeface="Arial"/>
                <a:ea typeface="Arial"/>
              </a:rPr>
              <a:t>Thanks to Pietro Mercuri for suggestions on experiments and evaluation metrics.</a:t>
            </a:r>
            <a:endParaRPr lang="it-IT" sz="11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67000"/>
                <a:lumMod val="110000"/>
              </a:schemeClr>
            </a:gs>
            <a:gs pos="50000">
              <a:schemeClr val="phClr">
                <a:tint val="73000"/>
                <a:lumMod val="105000"/>
              </a:schemeClr>
            </a:gs>
            <a:gs pos="100000">
              <a:schemeClr val="phClr">
                <a:tint val="81000"/>
                <a:lumMod val="105000"/>
              </a:schemeClr>
            </a:gs>
          </a:gsLst>
          <a:lin ang="5400000" scaled="0"/>
          <a:tileRect l="0" t="0" r="0" b="0"/>
        </a:gradFill>
        <a:gradFill>
          <a:gsLst>
            <a:gs pos="0">
              <a:schemeClr val="phClr">
                <a:tint val="94000"/>
                <a:lumMod val="102000"/>
              </a:schemeClr>
            </a:gs>
            <a:gs pos="50000">
              <a:schemeClr val="phClr">
                <a:shade val="100000"/>
                <a:lumMod val="100000"/>
              </a:schemeClr>
            </a:gs>
            <a:gs pos="100000">
              <a:schemeClr val="phClr">
                <a:shade val="78000"/>
                <a:lumMod val="99000"/>
              </a:schemeClr>
            </a:gs>
          </a:gsLst>
          <a:lin ang="5400000" scaled="0"/>
          <a:tileRect l="0" t="0" r="0" b="0"/>
        </a:gradFill>
      </a:fillStyleLst>
      <a:lnStyleLst>
        <a:ln w="6350">
          <a:prstDash val="solid"/>
        </a:ln>
        <a:ln w="12700">
          <a:prstDash val="solid"/>
        </a:ln>
        <a:ln w="19050">
          <a:prstDash val="solid"/>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2</TotalTime>
  <Application>LibreOffice/26.2.5.2$Windows_X86_64 LibreOffice_project/cd7284b4cbbfeb507e630c1aac019f4157393acb</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2026-09-07T04:10:44Z</dcterms:created>
  <dc:creator>Walnut Exporter</dc:creator>
  <dc:description/>
  <dc:language>it-IT</dc:language>
  <cp:lastModifiedBy/>
  <cp:lastPrinted>2026-09-07T12:38:30Z</cp:lastPrinted>
  <dcterms:modified xsi:type="dcterms:W3CDTF">2026-09-07T12:40:50Z</dcterms:modified>
  <cp:revision>1</cp:revision>
  <dc:subject/>
  <dc:title>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Converted Presentation</vt:lpwstr>
  </property>
</Properties>
</file>